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Presupuesto</c:v>
                </c:pt>
              </c:strCache>
            </c:strRef>
          </c:tx>
          <c:spPr>
            <a:solidFill>
              <a:schemeClr val="accent1"/>
            </a:solidFill>
            <a:ln w="9525" cap="flat">
              <a:solidFill>
                <a:srgbClr val="F9F9F9"/>
              </a:solidFill>
              <a:prstDash val="solid"/>
              <a:round/>
            </a:ln>
            <a:effectLst/>
          </c:spPr>
          <c:dPt>
            <c:idx val="0"/>
            <c:bubble3D val="0"/>
            <c:spPr>
              <a:solidFill>
                <a:srgbClr val="0E7C7B"/>
              </a:solidFill>
              <a:effectLst/>
            </c:spPr>
          </c:dPt>
          <c:dPt>
            <c:idx val="1"/>
            <c:bubble3D val="0"/>
            <c:spPr>
              <a:solidFill>
                <a:srgbClr val="5FB3B2"/>
              </a:solidFill>
              <a:effectLst/>
            </c:spPr>
          </c:dPt>
          <c:dPt>
            <c:idx val="2"/>
            <c:bubble3D val="0"/>
            <c:spPr>
              <a:solidFill>
                <a:srgbClr val="E8913A"/>
              </a:solidFill>
              <a:effectLst/>
            </c:spPr>
          </c:dPt>
          <c:dPt>
            <c:idx val="3"/>
            <c:bubble3D val="0"/>
            <c:spPr>
              <a:solidFill>
                <a:srgbClr val="B8C4CA"/>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Personal</c:v>
                </c:pt>
                <c:pt idx="1">
                  <c:v>Indirectos</c:v>
                </c:pt>
                <c:pt idx="2">
                  <c:v>Servidor, jurídico y capacitación</c:v>
                </c:pt>
                <c:pt idx="3">
                  <c:v>Contingencia</c:v>
                </c:pt>
              </c:strCache>
            </c:strRef>
          </c:cat>
          <c:val>
            <c:numRef>
              <c:f>Sheet1!$B$2:$B$5</c:f>
              <c:numCache>
                <c:ptCount val="4"/>
                <c:pt idx="0">
                  <c:v>310052</c:v>
                </c:pt>
                <c:pt idx="1">
                  <c:v>77513</c:v>
                </c:pt>
                <c:pt idx="2">
                  <c:v>28000</c:v>
                </c:pt>
                <c:pt idx="3">
                  <c:v>62335</c:v>
                </c:pt>
              </c:numCache>
            </c:numRef>
          </c:val>
        </c:ser>
        <c:firstSliceAng val="0"/>
        <c:holeSize val="55"/>
      </c:doughnut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del pago</c:v>
                </c:pt>
              </c:strCache>
            </c:strRef>
          </c:tx>
          <c:spPr>
            <a:solidFill>
              <a:srgbClr val="0E7C7B"/>
            </a:solidFill>
            <a:effectLst/>
          </c:spPr>
          <c:invertIfNegative val="0"/>
          <c:dLbls>
            <c:numFmt formatCode="0&quot;%&quot;"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Firma</c:v>
                  </c:pt>
                  <c:pt idx="1">
                    <c:v>M2</c:v>
                  </c:pt>
                  <c:pt idx="2">
                    <c:v>M3</c:v>
                  </c:pt>
                  <c:pt idx="3">
                    <c:v>M4</c:v>
                  </c:pt>
                  <c:pt idx="4">
                    <c:v>M5</c:v>
                  </c:pt>
                  <c:pt idx="5">
                    <c:v>M6</c:v>
                  </c:pt>
                </c:lvl>
              </c:multiLvlStrCache>
            </c:multiLvlStrRef>
          </c:cat>
          <c:val>
            <c:numRef>
              <c:f>Sheet1!$B$2:$B$7</c:f>
              <c:numCache>
                <c:formatCode>General</c:formatCode>
                <c:ptCount val="6"/>
                <c:pt idx="0">
                  <c:v>15</c:v>
                </c:pt>
                <c:pt idx="1">
                  <c:v>15</c:v>
                </c:pt>
                <c:pt idx="2">
                  <c:v>25</c:v>
                </c:pt>
                <c:pt idx="3">
                  <c:v>20</c:v>
                </c:pt>
                <c:pt idx="4">
                  <c:v>15</c:v>
                </c:pt>
                <c:pt idx="5">
                  <c:v>10</c:v>
                </c:pt>
              </c:numCache>
            </c:numRef>
          </c:val>
        </c:ser>
        <c:dLbls>
          <c:numFmt formatCode="0&quot;%&quot;"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Director [Nombre completo 1]  ·  1 min
Buenos días. Somos NexoSoft Consultores. Venimos a presentarles cómo pueden tener el trámite de residencias en línea, de forma segura y cumpliendo la ley, en 28 semanas. Presento al equipo: (cada integrante dice su nombre y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Director [Nombre completo 1]  ·  1.5 min
El Departamento necesita llevar residencias y servicio social en línea. Encontramos un sistema que ya hace casi todo, pero que hoy, si lo instalamos tal cual, expondría los datos de los alumnos. Nuestra propuesta es aprovechar lo bueno y corregir lo peligroso.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B1]  ·  1.5 min
Revisamos el sistema a fondo. Tiene 5 tipos de usuario y 20 funciones que corresponden al trámite real. El código propio es pequeño, unas 8,700 líneas; el resto son librerías. Y un dato importante: lo hizo una sola persona y no se actualiza desde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[Nombre completo 3]  ·  2 min
Clasificamos los riesgos en cuatro tipos. Lo más grave: las contraseñas se guardan sin cifrar y son iguales a la matrícula, y hay documentos personales de alumnos accesibles públicamente. Por ética, solo registramos dónde están; no usamos ninguna credencial.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[Nombre completo 3]  ·  1 min
Este mapa ubica cada riesgo por probabilidad e impacto. Lo importante: todo lo que está en rojo tiene una acción concreta en el plan que les vamos a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Director [Nombre completo 1]  ·  1.5 min
Evaluamos tres caminos. Adoptarlo tal cual no es opción por la ley. Hacerlo desde cero es más lento. Modernizar aprovecha el trabajo existente con riesgo controlado. Condición: obtener el permiso del autor; si no lo da, pasamos al plan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[Nombre completo 2]  ·  1.5 min
Esto es lo que recibe el Instituto. Todo lo que ya funciona se conserva, y se agrega lo que el proceso del Tec pide y el sistema no tenía: anteproyecto y asignación de asesores. Dejamos fuera la integración con el SII para no alargar el proyecto; puede ser una segunda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[Nombre completo 2]  ·  1.5 min
El proyecto se divide en seis entregas. En cada una les hacemos una demostración y ustedes aprueban antes de seguir. La meta es que el sistema esté listo antes del periodo agosto–diciembre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B1]  ·  1 min
Este es el cronograma detallado con dependencias. En rojo, la ruta crítica: requerimientos, base de datos y los módulos de solicitud, expediente y constancias. Por eso son los que vigilamos semanalmente.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B2]  ·  1.5 min
La inversión total es de 477,899 pesos, incluyendo una reserva de contingencia del 15 % que solo se usa si ocurre un riesgo. Dos terceras partes son el equipo de trabajo. Todo el software es libre, así que no hay costos de licencias.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B2]  ·  1 min
Proponemos pagar contra entregas aprobadas: la mayor parte del pago ocurre cuando ya vieron el sistema funcionando. Así el riesgo se comparte.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[Nombre completo 3]  ·  1.5 min
Todo proyecto tiene riesgos; lo importante es tenerlos controlados. El más importante es el permiso del autor original: sin él no podemos modificar el código legalmente, por eso es lo primero que haremos.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B3]  ·  1 min
No les pedimos que confíen en nosotros: definimos criterios medibles. Cada entrega se acepta solo si los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B3]  ·  1 min
Este es el equipo. Para ustedes, lo importante es que tendrán un reporte semanal, acceso al tablero con el avance real y una demostración en cada entrega. Ningún cambio se hace sin su aprobación.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Director [Nombre completo 1]  ·  1 min
Para arrancar necesitamos cuatro decisiones de su parte. Y una recomendación inmediata: mientras no terminemos, no usen el sistema actual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Todos  ·  5 min
Ronda de preguntas. Quien sea responsable del tema contesta (ver guion-presentacion.md, sección de preguntas probables).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731520" y="822960"/>
            <a:ext cx="914400" cy="914400"/>
          </a:xfrm>
          <a:prstGeom prst="ellipse">
            <a:avLst/>
          </a:prstGeom>
          <a:solidFill>
            <a:srgbClr val="0E7C7B"/>
          </a:solidFill>
          <a:ln w="12700">
            <a:solidFill>
              <a:srgbClr val="0E7C7B"/>
            </a:solidFill>
            <a:prstDash val="solid"/>
          </a:ln>
        </p:spPr>
      </p:sp>
      <p:pic>
        <p:nvPicPr>
          <p:cNvPr id="3" name="Image 0" descr="preencoded.png">    </p:cNvPr>
          <p:cNvPicPr>
            <a:picLocks noChangeAspect="1"/>
          </p:cNvPicPr>
          <p:nvPr/>
        </p:nvPicPr>
        <p:blipFill>
          <a:blip r:embed="rId1"/>
          <a:stretch>
            <a:fillRect/>
          </a:stretch>
        </p:blipFill>
        <p:spPr>
          <a:xfrm>
            <a:off x="960120" y="1051560"/>
            <a:ext cx="457200" cy="457200"/>
          </a:xfrm>
          <a:prstGeom prst="rect">
            <a:avLst/>
          </a:prstGeom>
        </p:spPr>
      </p:pic>
      <p:sp>
        <p:nvSpPr>
          <p:cNvPr id="4" name="Text 1"/>
          <p:cNvSpPr txBox="1"/>
          <p:nvPr/>
        </p:nvSpPr>
        <p:spPr>
          <a:xfrm>
            <a:off x="1828800" y="960120"/>
            <a:ext cx="7315200" cy="640080"/>
          </a:xfrm>
          <a:prstGeom prst="rect">
            <a:avLst/>
          </a:prstGeom>
          <a:noFill/>
          <a:ln/>
        </p:spPr>
        <p:txBody>
          <a:bodyPr wrap="square" lIns="0" tIns="0" rIns="0" bIns="0" rtlCol="0" anchor="ctr"/>
          <a:lstStyle/>
          <a:p>
            <a:pPr indent="0" marL="0">
              <a:buNone/>
            </a:pPr>
            <a:r>
              <a:rPr lang="en-US" sz="2000" b="1" dirty="0">
                <a:solidFill>
                  <a:srgbClr val="9FD6D5"/>
                </a:solidFill>
                <a:latin typeface="Calibri" pitchFamily="34" charset="0"/>
                <a:ea typeface="Calibri" pitchFamily="34" charset="-122"/>
                <a:cs typeface="Calibri" pitchFamily="34" charset="-120"/>
              </a:rPr>
              <a:t>NexoSoft Consultores</a:t>
            </a:r>
            <a:endParaRPr lang="en-US" sz="2000" dirty="0"/>
          </a:p>
        </p:txBody>
      </p:sp>
      <p:sp>
        <p:nvSpPr>
          <p:cNvPr id="5" name="Text 2"/>
          <p:cNvSpPr txBox="1"/>
          <p:nvPr/>
        </p:nvSpPr>
        <p:spPr>
          <a:xfrm>
            <a:off x="731520" y="2103120"/>
            <a:ext cx="10058400" cy="18288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Residencias en línea,</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seguras y en regla</a:t>
            </a:r>
            <a:endParaRPr lang="en-US" sz="4800" dirty="0"/>
          </a:p>
        </p:txBody>
      </p:sp>
      <p:sp>
        <p:nvSpPr>
          <p:cNvPr id="6" name="Text 3"/>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800" dirty="0">
                <a:solidFill>
                  <a:srgbClr val="D5E3E8"/>
                </a:solidFill>
                <a:latin typeface="Calibri" pitchFamily="34" charset="0"/>
                <a:ea typeface="Calibri" pitchFamily="34" charset="-122"/>
                <a:cs typeface="Calibri" pitchFamily="34" charset="-120"/>
              </a:rPr>
              <a:t>Propuesta para modernizar el Sistema de Control Escolar de Servicio Social y Residencia Profesional</a:t>
            </a:r>
            <a:endParaRPr lang="en-US" sz="1800" dirty="0"/>
          </a:p>
        </p:txBody>
      </p:sp>
      <p:sp>
        <p:nvSpPr>
          <p:cNvPr id="7" name="Text 4"/>
          <p:cNvSpPr txBox="1"/>
          <p:nvPr/>
        </p:nvSpPr>
        <p:spPr>
          <a:xfrm>
            <a:off x="731520" y="5760720"/>
            <a:ext cx="10058400" cy="365760"/>
          </a:xfrm>
          <a:prstGeom prst="rect">
            <a:avLst/>
          </a:prstGeom>
          <a:noFill/>
          <a:ln/>
        </p:spPr>
        <p:txBody>
          <a:bodyPr wrap="square" lIns="0" tIns="0" rIns="0" bIns="0" rtlCol="0" anchor="ctr"/>
          <a:lstStyle/>
          <a:p>
            <a:pPr indent="0" marL="0">
              <a:buNone/>
            </a:pPr>
            <a:r>
              <a:rPr lang="en-US" sz="1300" dirty="0">
                <a:solidFill>
                  <a:srgbClr val="9FB3C0"/>
                </a:solidFill>
                <a:latin typeface="Calibri" pitchFamily="34" charset="0"/>
                <a:ea typeface="Calibri" pitchFamily="34" charset="-122"/>
                <a:cs typeface="Calibri" pitchFamily="34" charset="-120"/>
              </a:rPr>
              <a:t>Para: Departamento de Gestión Tecnológica y Vinculación · Instituto Tecnológico de Matehuala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El reto: un buen sistema que hoy no se puede usar</a:t>
            </a:r>
            <a:endParaRPr lang="en-US" sz="3400" dirty="0"/>
          </a:p>
        </p:txBody>
      </p:sp>
      <p:sp>
        <p:nvSpPr>
          <p:cNvPr id="3" name="Shape 1"/>
          <p:cNvSpPr/>
          <p:nvPr/>
        </p:nvSpPr>
        <p:spPr>
          <a:xfrm>
            <a:off x="548640" y="1554480"/>
            <a:ext cx="5394960" cy="4480560"/>
          </a:xfrm>
          <a:prstGeom prst="roundRect">
            <a:avLst>
              <a:gd name="adj" fmla="val 2449"/>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4" name="Shape 2"/>
          <p:cNvSpPr/>
          <p:nvPr/>
        </p:nvSpPr>
        <p:spPr>
          <a:xfrm>
            <a:off x="822960" y="1828800"/>
            <a:ext cx="731520" cy="73152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1005840" y="2011680"/>
            <a:ext cx="365760" cy="365760"/>
          </a:xfrm>
          <a:prstGeom prst="rect">
            <a:avLst/>
          </a:prstGeom>
        </p:spPr>
      </p:pic>
      <p:sp>
        <p:nvSpPr>
          <p:cNvPr id="6" name="Text 3"/>
          <p:cNvSpPr txBox="1"/>
          <p:nvPr/>
        </p:nvSpPr>
        <p:spPr>
          <a:xfrm>
            <a:off x="1737360" y="1920240"/>
            <a:ext cx="3931920" cy="548640"/>
          </a:xfrm>
          <a:prstGeom prst="rect">
            <a:avLst/>
          </a:prstGeom>
          <a:noFill/>
          <a:ln/>
        </p:spPr>
        <p:txBody>
          <a:bodyPr wrap="square" lIns="0" tIns="0" rIns="0" bIns="0" rtlCol="0" anchor="ctr"/>
          <a:lstStyle/>
          <a:p>
            <a:pPr indent="0" marL="0">
              <a:buNone/>
            </a:pPr>
            <a:r>
              <a:rPr lang="en-US" sz="2200" b="1" dirty="0">
                <a:solidFill>
                  <a:srgbClr val="0E7C7B"/>
                </a:solidFill>
                <a:latin typeface="Calibri" pitchFamily="34" charset="0"/>
                <a:ea typeface="Calibri" pitchFamily="34" charset="-122"/>
                <a:cs typeface="Calibri" pitchFamily="34" charset="-120"/>
              </a:rPr>
              <a:t>Lo que ya existe</a:t>
            </a:r>
            <a:endParaRPr lang="en-US" sz="2200" dirty="0"/>
          </a:p>
        </p:txBody>
      </p:sp>
      <p:sp>
        <p:nvSpPr>
          <p:cNvPr id="7" name="Text 4"/>
          <p:cNvSpPr txBox="1"/>
          <p:nvPr/>
        </p:nvSpPr>
        <p:spPr>
          <a:xfrm>
            <a:off x="868680" y="2743200"/>
            <a:ext cx="4846320" cy="301752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Un sistema web que ya cubre la solicitud, la carta de presentación, el expediente, los reportes, las visitas y la constancia.</a:t>
            </a:r>
            <a:endParaRPr lang="en-US" sz="1600" dirty="0"/>
          </a:p>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Desarrollado en 2021 para otro Tecnológico.</a:t>
            </a:r>
            <a:endParaRPr lang="en-US" sz="1600" dirty="0"/>
          </a:p>
          <a:p>
            <a:pPr marL="342900" indent="-342900">
              <a:buSzPct val="100000"/>
              <a:buChar char="•"/>
            </a:pPr>
            <a:r>
              <a:rPr lang="en-US" sz="1600" dirty="0">
                <a:solidFill>
                  <a:srgbClr val="1F2933"/>
                </a:solidFill>
                <a:latin typeface="Calibri" pitchFamily="34" charset="0"/>
                <a:ea typeface="Calibri" pitchFamily="34" charset="-122"/>
                <a:cs typeface="Calibri" pitchFamily="34" charset="-120"/>
              </a:rPr>
              <a:t>Código disponible: no hay que empezar de cero.</a:t>
            </a:r>
            <a:endParaRPr lang="en-US" sz="1600" dirty="0"/>
          </a:p>
        </p:txBody>
      </p:sp>
      <p:sp>
        <p:nvSpPr>
          <p:cNvPr id="8" name="Shape 5"/>
          <p:cNvSpPr/>
          <p:nvPr/>
        </p:nvSpPr>
        <p:spPr>
          <a:xfrm>
            <a:off x="6263640" y="1554480"/>
            <a:ext cx="5394960" cy="4480560"/>
          </a:xfrm>
          <a:prstGeom prst="roundRect">
            <a:avLst>
              <a:gd name="adj" fmla="val 2449"/>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9" name="Shape 6"/>
          <p:cNvSpPr/>
          <p:nvPr/>
        </p:nvSpPr>
        <p:spPr>
          <a:xfrm>
            <a:off x="6537960" y="1828800"/>
            <a:ext cx="731520" cy="731520"/>
          </a:xfrm>
          <a:prstGeom prst="ellipse">
            <a:avLst/>
          </a:prstGeom>
          <a:solidFill>
            <a:srgbClr val="C0392B"/>
          </a:solidFill>
          <a:ln w="12700">
            <a:solidFill>
              <a:srgbClr val="C0392B"/>
            </a:solidFill>
            <a:prstDash val="solid"/>
          </a:ln>
        </p:spPr>
      </p:sp>
      <p:pic>
        <p:nvPicPr>
          <p:cNvPr id="10" name="Image 1" descr="preencoded.png">    </p:cNvPr>
          <p:cNvPicPr>
            <a:picLocks noChangeAspect="1"/>
          </p:cNvPicPr>
          <p:nvPr/>
        </p:nvPicPr>
        <p:blipFill>
          <a:blip r:embed="rId2"/>
          <a:stretch>
            <a:fillRect/>
          </a:stretch>
        </p:blipFill>
        <p:spPr>
          <a:xfrm>
            <a:off x="6720840" y="2011680"/>
            <a:ext cx="365760" cy="365760"/>
          </a:xfrm>
          <a:prstGeom prst="rect">
            <a:avLst/>
          </a:prstGeom>
        </p:spPr>
      </p:pic>
      <p:sp>
        <p:nvSpPr>
          <p:cNvPr id="11" name="Text 7"/>
          <p:cNvSpPr txBox="1"/>
          <p:nvPr/>
        </p:nvSpPr>
        <p:spPr>
          <a:xfrm>
            <a:off x="7452360" y="1920240"/>
            <a:ext cx="4023360" cy="548640"/>
          </a:xfrm>
          <a:prstGeom prst="rect">
            <a:avLst/>
          </a:prstGeom>
          <a:noFill/>
          <a:ln/>
        </p:spPr>
        <p:txBody>
          <a:bodyPr wrap="square" lIns="0" tIns="0" rIns="0" bIns="0" rtlCol="0" anchor="ctr"/>
          <a:lstStyle/>
          <a:p>
            <a:pPr indent="0" marL="0">
              <a:buNone/>
            </a:pPr>
            <a:r>
              <a:rPr lang="en-US" sz="2200" b="1" dirty="0">
                <a:solidFill>
                  <a:srgbClr val="C0392B"/>
                </a:solidFill>
                <a:latin typeface="Calibri" pitchFamily="34" charset="0"/>
                <a:ea typeface="Calibri" pitchFamily="34" charset="-122"/>
                <a:cs typeface="Calibri" pitchFamily="34" charset="-120"/>
              </a:rPr>
              <a:t>Por qué no usarlo así</a:t>
            </a:r>
            <a:endParaRPr lang="en-US" sz="2200" dirty="0"/>
          </a:p>
        </p:txBody>
      </p:sp>
      <p:sp>
        <p:nvSpPr>
          <p:cNvPr id="12" name="Text 8"/>
          <p:cNvSpPr txBox="1"/>
          <p:nvPr/>
        </p:nvSpPr>
        <p:spPr>
          <a:xfrm>
            <a:off x="6583680" y="2743200"/>
            <a:ext cx="4846320" cy="301752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Pone en riesgo los datos personales de sus alumnos.</a:t>
            </a:r>
            <a:endParaRPr lang="en-US" sz="1600" dirty="0"/>
          </a:p>
          <a:p>
            <a:pPr marL="342900" indent="-3429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No cumple con la ley de protección de datos.</a:t>
            </a:r>
            <a:endParaRPr lang="en-US" sz="1600" dirty="0"/>
          </a:p>
          <a:p>
            <a:pPr marL="342900" indent="-342900">
              <a:buSzPct val="100000"/>
              <a:buChar char="•"/>
            </a:pPr>
            <a:r>
              <a:rPr lang="en-US" sz="1600" dirty="0">
                <a:solidFill>
                  <a:srgbClr val="1F2933"/>
                </a:solidFill>
                <a:latin typeface="Calibri" pitchFamily="34" charset="0"/>
                <a:ea typeface="Calibri" pitchFamily="34" charset="-122"/>
                <a:cs typeface="Calibri" pitchFamily="34" charset="-120"/>
              </a:rPr>
              <a:t>Tecnología sin soporte desde 2021 y sin documentación.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Lo que analizamos</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Siete etapas de revisión: código, base de datos, historial y riesgos</a:t>
            </a:r>
            <a:endParaRPr lang="en-US" sz="1500" dirty="0"/>
          </a:p>
        </p:txBody>
      </p:sp>
      <p:sp>
        <p:nvSpPr>
          <p:cNvPr id="4" name="Shape 2"/>
          <p:cNvSpPr/>
          <p:nvPr/>
        </p:nvSpPr>
        <p:spPr>
          <a:xfrm>
            <a:off x="548640" y="1737360"/>
            <a:ext cx="2606040" cy="4023360"/>
          </a:xfrm>
          <a:prstGeom prst="roundRect">
            <a:avLst>
              <a:gd name="adj" fmla="val 4211"/>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5" name="Shape 3"/>
          <p:cNvSpPr/>
          <p:nvPr/>
        </p:nvSpPr>
        <p:spPr>
          <a:xfrm>
            <a:off x="1417320" y="2011680"/>
            <a:ext cx="868680" cy="86868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1634490" y="2228850"/>
            <a:ext cx="434340" cy="434340"/>
          </a:xfrm>
          <a:prstGeom prst="rect">
            <a:avLst/>
          </a:prstGeom>
        </p:spPr>
      </p:pic>
      <p:sp>
        <p:nvSpPr>
          <p:cNvPr id="7" name="Text 4"/>
          <p:cNvSpPr txBox="1"/>
          <p:nvPr/>
        </p:nvSpPr>
        <p:spPr>
          <a:xfrm>
            <a:off x="548640" y="3017520"/>
            <a:ext cx="2606040" cy="914400"/>
          </a:xfrm>
          <a:prstGeom prst="rect">
            <a:avLst/>
          </a:prstGeom>
          <a:noFill/>
          <a:ln/>
        </p:spPr>
        <p:txBody>
          <a:bodyPr wrap="square" lIns="0" tIns="0" rIns="0" bIns="0" rtlCol="0" anchor="ctr"/>
          <a:lstStyle/>
          <a:p>
            <a:pPr algn="ctr" indent="0" marL="0">
              <a:buNone/>
            </a:pPr>
            <a:r>
              <a:rPr lang="en-US" sz="4400" b="1" dirty="0">
                <a:solidFill>
                  <a:srgbClr val="0E7C7B"/>
                </a:solidFill>
                <a:latin typeface="Cambria" pitchFamily="34" charset="0"/>
                <a:ea typeface="Cambria" pitchFamily="34" charset="-122"/>
                <a:cs typeface="Cambria" pitchFamily="34" charset="-120"/>
              </a:rPr>
              <a:t>5</a:t>
            </a:r>
            <a:endParaRPr lang="en-US" sz="4400" dirty="0"/>
          </a:p>
        </p:txBody>
      </p:sp>
      <p:sp>
        <p:nvSpPr>
          <p:cNvPr id="8" name="Text 5"/>
          <p:cNvSpPr txBox="1"/>
          <p:nvPr/>
        </p:nvSpPr>
        <p:spPr>
          <a:xfrm>
            <a:off x="731520" y="3977640"/>
            <a:ext cx="2240280" cy="640080"/>
          </a:xfrm>
          <a:prstGeom prst="rect">
            <a:avLst/>
          </a:prstGeom>
          <a:noFill/>
          <a:ln/>
        </p:spPr>
        <p:txBody>
          <a:bodyPr wrap="square" lIns="0" tIns="0" rIns="0" bIns="0" rtlCol="0" anchor="ctr"/>
          <a:lstStyle/>
          <a:p>
            <a:pPr algn="ctr" indent="0" marL="0">
              <a:buNone/>
            </a:pPr>
            <a:r>
              <a:rPr lang="en-US" sz="1600" b="1" dirty="0">
                <a:solidFill>
                  <a:srgbClr val="1F2933"/>
                </a:solidFill>
                <a:latin typeface="Calibri" pitchFamily="34" charset="0"/>
                <a:ea typeface="Calibri" pitchFamily="34" charset="-122"/>
                <a:cs typeface="Calibri" pitchFamily="34" charset="-120"/>
              </a:rPr>
              <a:t>tipos de usuario</a:t>
            </a:r>
            <a:endParaRPr lang="en-US" sz="1600" dirty="0"/>
          </a:p>
        </p:txBody>
      </p:sp>
      <p:sp>
        <p:nvSpPr>
          <p:cNvPr id="9" name="Text 6"/>
          <p:cNvSpPr txBox="1"/>
          <p:nvPr/>
        </p:nvSpPr>
        <p:spPr>
          <a:xfrm>
            <a:off x="731520" y="4663440"/>
            <a:ext cx="2240280" cy="731520"/>
          </a:xfrm>
          <a:prstGeom prst="rect">
            <a:avLst/>
          </a:prstGeom>
          <a:noFill/>
          <a:ln/>
        </p:spPr>
        <p:txBody>
          <a:bodyPr wrap="square" lIns="0" tIns="0" rIns="0" bIns="0" rtlCol="0" anchor="ctr"/>
          <a:lstStyle/>
          <a:p>
            <a:pPr algn="ctr" indent="0" marL="0">
              <a:buNone/>
            </a:pPr>
            <a:r>
              <a:rPr lang="en-US" sz="1300" dirty="0">
                <a:solidFill>
                  <a:srgbClr val="5B6770"/>
                </a:solidFill>
                <a:latin typeface="Calibri" pitchFamily="34" charset="0"/>
                <a:ea typeface="Calibri" pitchFamily="34" charset="-122"/>
                <a:cs typeface="Calibri" pitchFamily="34" charset="-120"/>
              </a:rPr>
              <a:t>Alumno, asesores, jefe y administrador</a:t>
            </a:r>
            <a:endParaRPr lang="en-US" sz="1300" dirty="0"/>
          </a:p>
        </p:txBody>
      </p:sp>
      <p:sp>
        <p:nvSpPr>
          <p:cNvPr id="10" name="Shape 7"/>
          <p:cNvSpPr/>
          <p:nvPr/>
        </p:nvSpPr>
        <p:spPr>
          <a:xfrm>
            <a:off x="3383280" y="1737360"/>
            <a:ext cx="2606040" cy="4023360"/>
          </a:xfrm>
          <a:prstGeom prst="roundRect">
            <a:avLst>
              <a:gd name="adj" fmla="val 4211"/>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1" name="Shape 8"/>
          <p:cNvSpPr/>
          <p:nvPr/>
        </p:nvSpPr>
        <p:spPr>
          <a:xfrm>
            <a:off x="4251960" y="2011680"/>
            <a:ext cx="868680" cy="86868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4469130" y="2228850"/>
            <a:ext cx="434340" cy="434340"/>
          </a:xfrm>
          <a:prstGeom prst="rect">
            <a:avLst/>
          </a:prstGeom>
        </p:spPr>
      </p:pic>
      <p:sp>
        <p:nvSpPr>
          <p:cNvPr id="13" name="Text 9"/>
          <p:cNvSpPr txBox="1"/>
          <p:nvPr/>
        </p:nvSpPr>
        <p:spPr>
          <a:xfrm>
            <a:off x="3383280" y="3017520"/>
            <a:ext cx="2606040" cy="914400"/>
          </a:xfrm>
          <a:prstGeom prst="rect">
            <a:avLst/>
          </a:prstGeom>
          <a:noFill/>
          <a:ln/>
        </p:spPr>
        <p:txBody>
          <a:bodyPr wrap="square" lIns="0" tIns="0" rIns="0" bIns="0" rtlCol="0" anchor="ctr"/>
          <a:lstStyle/>
          <a:p>
            <a:pPr algn="ctr" indent="0" marL="0">
              <a:buNone/>
            </a:pPr>
            <a:r>
              <a:rPr lang="en-US" sz="4400" b="1" dirty="0">
                <a:solidFill>
                  <a:srgbClr val="0E7C7B"/>
                </a:solidFill>
                <a:latin typeface="Cambria" pitchFamily="34" charset="0"/>
                <a:ea typeface="Cambria" pitchFamily="34" charset="-122"/>
                <a:cs typeface="Cambria" pitchFamily="34" charset="-120"/>
              </a:rPr>
              <a:t>20</a:t>
            </a:r>
            <a:endParaRPr lang="en-US" sz="4400" dirty="0"/>
          </a:p>
        </p:txBody>
      </p:sp>
      <p:sp>
        <p:nvSpPr>
          <p:cNvPr id="14" name="Text 10"/>
          <p:cNvSpPr txBox="1"/>
          <p:nvPr/>
        </p:nvSpPr>
        <p:spPr>
          <a:xfrm>
            <a:off x="3566160" y="3977640"/>
            <a:ext cx="2240280" cy="640080"/>
          </a:xfrm>
          <a:prstGeom prst="rect">
            <a:avLst/>
          </a:prstGeom>
          <a:noFill/>
          <a:ln/>
        </p:spPr>
        <p:txBody>
          <a:bodyPr wrap="square" lIns="0" tIns="0" rIns="0" bIns="0" rtlCol="0" anchor="ctr"/>
          <a:lstStyle/>
          <a:p>
            <a:pPr algn="ctr" indent="0" marL="0">
              <a:buNone/>
            </a:pPr>
            <a:r>
              <a:rPr lang="en-US" sz="1600" b="1" dirty="0">
                <a:solidFill>
                  <a:srgbClr val="1F2933"/>
                </a:solidFill>
                <a:latin typeface="Calibri" pitchFamily="34" charset="0"/>
                <a:ea typeface="Calibri" pitchFamily="34" charset="-122"/>
                <a:cs typeface="Calibri" pitchFamily="34" charset="-120"/>
              </a:rPr>
              <a:t>funciones del trámite</a:t>
            </a:r>
            <a:endParaRPr lang="en-US" sz="1600" dirty="0"/>
          </a:p>
        </p:txBody>
      </p:sp>
      <p:sp>
        <p:nvSpPr>
          <p:cNvPr id="15" name="Text 11"/>
          <p:cNvSpPr txBox="1"/>
          <p:nvPr/>
        </p:nvSpPr>
        <p:spPr>
          <a:xfrm>
            <a:off x="3566160" y="4663440"/>
            <a:ext cx="2240280" cy="731520"/>
          </a:xfrm>
          <a:prstGeom prst="rect">
            <a:avLst/>
          </a:prstGeom>
          <a:noFill/>
          <a:ln/>
        </p:spPr>
        <p:txBody>
          <a:bodyPr wrap="square" lIns="0" tIns="0" rIns="0" bIns="0" rtlCol="0" anchor="ctr"/>
          <a:lstStyle/>
          <a:p>
            <a:pPr algn="ctr" indent="0" marL="0">
              <a:buNone/>
            </a:pPr>
            <a:r>
              <a:rPr lang="en-US" sz="1300" dirty="0">
                <a:solidFill>
                  <a:srgbClr val="5B6770"/>
                </a:solidFill>
                <a:latin typeface="Calibri" pitchFamily="34" charset="0"/>
                <a:ea typeface="Calibri" pitchFamily="34" charset="-122"/>
                <a:cs typeface="Calibri" pitchFamily="34" charset="-120"/>
              </a:rPr>
              <a:t>Historias de usuario recuperadas</a:t>
            </a:r>
            <a:endParaRPr lang="en-US" sz="1300" dirty="0"/>
          </a:p>
        </p:txBody>
      </p:sp>
      <p:sp>
        <p:nvSpPr>
          <p:cNvPr id="16" name="Shape 12"/>
          <p:cNvSpPr/>
          <p:nvPr/>
        </p:nvSpPr>
        <p:spPr>
          <a:xfrm>
            <a:off x="6217920" y="1737360"/>
            <a:ext cx="2606040" cy="4023360"/>
          </a:xfrm>
          <a:prstGeom prst="roundRect">
            <a:avLst>
              <a:gd name="adj" fmla="val 4211"/>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7" name="Shape 13"/>
          <p:cNvSpPr/>
          <p:nvPr/>
        </p:nvSpPr>
        <p:spPr>
          <a:xfrm>
            <a:off x="7086600" y="2011680"/>
            <a:ext cx="868680" cy="868680"/>
          </a:xfrm>
          <a:prstGeom prst="ellipse">
            <a:avLst/>
          </a:prstGeom>
          <a:solidFill>
            <a:srgbClr val="0E7C7B"/>
          </a:solidFill>
          <a:ln w="12700">
            <a:solidFill>
              <a:srgbClr val="0E7C7B"/>
            </a:solidFill>
            <a:prstDash val="solid"/>
          </a:ln>
        </p:spPr>
      </p:sp>
      <p:pic>
        <p:nvPicPr>
          <p:cNvPr id="18" name="Image 2" descr="preencoded.png">    </p:cNvPr>
          <p:cNvPicPr>
            <a:picLocks noChangeAspect="1"/>
          </p:cNvPicPr>
          <p:nvPr/>
        </p:nvPicPr>
        <p:blipFill>
          <a:blip r:embed="rId3"/>
          <a:stretch>
            <a:fillRect/>
          </a:stretch>
        </p:blipFill>
        <p:spPr>
          <a:xfrm>
            <a:off x="7303770" y="2228850"/>
            <a:ext cx="434340" cy="434340"/>
          </a:xfrm>
          <a:prstGeom prst="rect">
            <a:avLst/>
          </a:prstGeom>
        </p:spPr>
      </p:pic>
      <p:sp>
        <p:nvSpPr>
          <p:cNvPr id="19" name="Text 14"/>
          <p:cNvSpPr txBox="1"/>
          <p:nvPr/>
        </p:nvSpPr>
        <p:spPr>
          <a:xfrm>
            <a:off x="6217920" y="3017520"/>
            <a:ext cx="2606040" cy="914400"/>
          </a:xfrm>
          <a:prstGeom prst="rect">
            <a:avLst/>
          </a:prstGeom>
          <a:noFill/>
          <a:ln/>
        </p:spPr>
        <p:txBody>
          <a:bodyPr wrap="square" lIns="0" tIns="0" rIns="0" bIns="0" rtlCol="0" anchor="ctr"/>
          <a:lstStyle/>
          <a:p>
            <a:pPr algn="ctr" indent="0" marL="0">
              <a:buNone/>
            </a:pPr>
            <a:r>
              <a:rPr lang="en-US" sz="4400" b="1" dirty="0">
                <a:solidFill>
                  <a:srgbClr val="0E7C7B"/>
                </a:solidFill>
                <a:latin typeface="Cambria" pitchFamily="34" charset="0"/>
                <a:ea typeface="Cambria" pitchFamily="34" charset="-122"/>
                <a:cs typeface="Cambria" pitchFamily="34" charset="-120"/>
              </a:rPr>
              <a:t>8,700</a:t>
            </a:r>
            <a:endParaRPr lang="en-US" sz="4400" dirty="0"/>
          </a:p>
        </p:txBody>
      </p:sp>
      <p:sp>
        <p:nvSpPr>
          <p:cNvPr id="20" name="Text 15"/>
          <p:cNvSpPr txBox="1"/>
          <p:nvPr/>
        </p:nvSpPr>
        <p:spPr>
          <a:xfrm>
            <a:off x="6400800" y="3977640"/>
            <a:ext cx="2240280" cy="640080"/>
          </a:xfrm>
          <a:prstGeom prst="rect">
            <a:avLst/>
          </a:prstGeom>
          <a:noFill/>
          <a:ln/>
        </p:spPr>
        <p:txBody>
          <a:bodyPr wrap="square" lIns="0" tIns="0" rIns="0" bIns="0" rtlCol="0" anchor="ctr"/>
          <a:lstStyle/>
          <a:p>
            <a:pPr algn="ctr" indent="0" marL="0">
              <a:buNone/>
            </a:pPr>
            <a:r>
              <a:rPr lang="en-US" sz="1600" b="1" dirty="0">
                <a:solidFill>
                  <a:srgbClr val="1F2933"/>
                </a:solidFill>
                <a:latin typeface="Calibri" pitchFamily="34" charset="0"/>
                <a:ea typeface="Calibri" pitchFamily="34" charset="-122"/>
                <a:cs typeface="Calibri" pitchFamily="34" charset="-120"/>
              </a:rPr>
              <a:t>líneas de código propio</a:t>
            </a:r>
            <a:endParaRPr lang="en-US" sz="1600" dirty="0"/>
          </a:p>
        </p:txBody>
      </p:sp>
      <p:sp>
        <p:nvSpPr>
          <p:cNvPr id="21" name="Text 16"/>
          <p:cNvSpPr txBox="1"/>
          <p:nvPr/>
        </p:nvSpPr>
        <p:spPr>
          <a:xfrm>
            <a:off x="6400800" y="4663440"/>
            <a:ext cx="2240280" cy="731520"/>
          </a:xfrm>
          <a:prstGeom prst="rect">
            <a:avLst/>
          </a:prstGeom>
          <a:noFill/>
          <a:ln/>
        </p:spPr>
        <p:txBody>
          <a:bodyPr wrap="square" lIns="0" tIns="0" rIns="0" bIns="0" rtlCol="0" anchor="ctr"/>
          <a:lstStyle/>
          <a:p>
            <a:pPr algn="ctr" indent="0" marL="0">
              <a:buNone/>
            </a:pPr>
            <a:r>
              <a:rPr lang="en-US" sz="1300" dirty="0">
                <a:solidFill>
                  <a:srgbClr val="5B6770"/>
                </a:solidFill>
                <a:latin typeface="Calibri" pitchFamily="34" charset="0"/>
                <a:ea typeface="Calibri" pitchFamily="34" charset="-122"/>
                <a:cs typeface="Calibri" pitchFamily="34" charset="-120"/>
              </a:rPr>
              <a:t>Menos del 2 % del repositorio</a:t>
            </a:r>
            <a:endParaRPr lang="en-US" sz="1300" dirty="0"/>
          </a:p>
        </p:txBody>
      </p:sp>
      <p:sp>
        <p:nvSpPr>
          <p:cNvPr id="22" name="Shape 17"/>
          <p:cNvSpPr/>
          <p:nvPr/>
        </p:nvSpPr>
        <p:spPr>
          <a:xfrm>
            <a:off x="9052560" y="1737360"/>
            <a:ext cx="2606040" cy="4023360"/>
          </a:xfrm>
          <a:prstGeom prst="roundRect">
            <a:avLst>
              <a:gd name="adj" fmla="val 4211"/>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3" name="Shape 18"/>
          <p:cNvSpPr/>
          <p:nvPr/>
        </p:nvSpPr>
        <p:spPr>
          <a:xfrm>
            <a:off x="9921240" y="2011680"/>
            <a:ext cx="868680" cy="868680"/>
          </a:xfrm>
          <a:prstGeom prst="ellipse">
            <a:avLst/>
          </a:prstGeom>
          <a:solidFill>
            <a:srgbClr val="0E7C7B"/>
          </a:solidFill>
          <a:ln w="12700">
            <a:solidFill>
              <a:srgbClr val="0E7C7B"/>
            </a:solidFill>
            <a:prstDash val="solid"/>
          </a:ln>
        </p:spPr>
      </p:sp>
      <p:pic>
        <p:nvPicPr>
          <p:cNvPr id="24" name="Image 3" descr="preencoded.png">    </p:cNvPr>
          <p:cNvPicPr>
            <a:picLocks noChangeAspect="1"/>
          </p:cNvPicPr>
          <p:nvPr/>
        </p:nvPicPr>
        <p:blipFill>
          <a:blip r:embed="rId4"/>
          <a:stretch>
            <a:fillRect/>
          </a:stretch>
        </p:blipFill>
        <p:spPr>
          <a:xfrm>
            <a:off x="10138410" y="2228850"/>
            <a:ext cx="434340" cy="434340"/>
          </a:xfrm>
          <a:prstGeom prst="rect">
            <a:avLst/>
          </a:prstGeom>
        </p:spPr>
      </p:pic>
      <p:sp>
        <p:nvSpPr>
          <p:cNvPr id="25" name="Text 19"/>
          <p:cNvSpPr txBox="1"/>
          <p:nvPr/>
        </p:nvSpPr>
        <p:spPr>
          <a:xfrm>
            <a:off x="9052560" y="3017520"/>
            <a:ext cx="2606040" cy="914400"/>
          </a:xfrm>
          <a:prstGeom prst="rect">
            <a:avLst/>
          </a:prstGeom>
          <a:noFill/>
          <a:ln/>
        </p:spPr>
        <p:txBody>
          <a:bodyPr wrap="square" lIns="0" tIns="0" rIns="0" bIns="0" rtlCol="0" anchor="ctr"/>
          <a:lstStyle/>
          <a:p>
            <a:pPr algn="ctr" indent="0" marL="0">
              <a:buNone/>
            </a:pPr>
            <a:r>
              <a:rPr lang="en-US" sz="4400" b="1" dirty="0">
                <a:solidFill>
                  <a:srgbClr val="0E7C7B"/>
                </a:solidFill>
                <a:latin typeface="Cambria" pitchFamily="34" charset="0"/>
                <a:ea typeface="Cambria" pitchFamily="34" charset="-122"/>
                <a:cs typeface="Cambria" pitchFamily="34" charset="-120"/>
              </a:rPr>
              <a:t>1</a:t>
            </a:r>
            <a:endParaRPr lang="en-US" sz="4400" dirty="0"/>
          </a:p>
        </p:txBody>
      </p:sp>
      <p:sp>
        <p:nvSpPr>
          <p:cNvPr id="26" name="Text 20"/>
          <p:cNvSpPr txBox="1"/>
          <p:nvPr/>
        </p:nvSpPr>
        <p:spPr>
          <a:xfrm>
            <a:off x="9235440" y="3977640"/>
            <a:ext cx="2240280" cy="640080"/>
          </a:xfrm>
          <a:prstGeom prst="rect">
            <a:avLst/>
          </a:prstGeom>
          <a:noFill/>
          <a:ln/>
        </p:spPr>
        <p:txBody>
          <a:bodyPr wrap="square" lIns="0" tIns="0" rIns="0" bIns="0" rtlCol="0" anchor="ctr"/>
          <a:lstStyle/>
          <a:p>
            <a:pPr algn="ctr" indent="0" marL="0">
              <a:buNone/>
            </a:pPr>
            <a:r>
              <a:rPr lang="en-US" sz="1600" b="1" dirty="0">
                <a:solidFill>
                  <a:srgbClr val="1F2933"/>
                </a:solidFill>
                <a:latin typeface="Calibri" pitchFamily="34" charset="0"/>
                <a:ea typeface="Calibri" pitchFamily="34" charset="-122"/>
                <a:cs typeface="Calibri" pitchFamily="34" charset="-120"/>
              </a:rPr>
              <a:t>sola persona lo desarrolló</a:t>
            </a:r>
            <a:endParaRPr lang="en-US" sz="1600" dirty="0"/>
          </a:p>
        </p:txBody>
      </p:sp>
      <p:sp>
        <p:nvSpPr>
          <p:cNvPr id="27" name="Text 21"/>
          <p:cNvSpPr txBox="1"/>
          <p:nvPr/>
        </p:nvSpPr>
        <p:spPr>
          <a:xfrm>
            <a:off x="9235440" y="4663440"/>
            <a:ext cx="2240280" cy="731520"/>
          </a:xfrm>
          <a:prstGeom prst="rect">
            <a:avLst/>
          </a:prstGeom>
          <a:noFill/>
          <a:ln/>
        </p:spPr>
        <p:txBody>
          <a:bodyPr wrap="square" lIns="0" tIns="0" rIns="0" bIns="0" rtlCol="0" anchor="ctr"/>
          <a:lstStyle/>
          <a:p>
            <a:pPr algn="ctr" indent="0" marL="0">
              <a:buNone/>
            </a:pPr>
            <a:r>
              <a:rPr lang="en-US" sz="1300" dirty="0">
                <a:solidFill>
                  <a:srgbClr val="5B6770"/>
                </a:solidFill>
                <a:latin typeface="Calibri" pitchFamily="34" charset="0"/>
                <a:ea typeface="Calibri" pitchFamily="34" charset="-122"/>
                <a:cs typeface="Calibri" pitchFamily="34" charset="-120"/>
              </a:rPr>
              <a:t>Sin mantenimiento desde 2021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Encontramos 24 riesgos; 17 son graves</a:t>
            </a:r>
            <a:endParaRPr lang="en-US" sz="3400" dirty="0"/>
          </a:p>
        </p:txBody>
      </p:sp>
      <p:sp>
        <p:nvSpPr>
          <p:cNvPr id="3" name="Text 1"/>
          <p:cNvSpPr txBox="1"/>
          <p:nvPr/>
        </p:nvSpPr>
        <p:spPr>
          <a:xfrm>
            <a:off x="548640" y="1554480"/>
            <a:ext cx="2926080" cy="1645920"/>
          </a:xfrm>
          <a:prstGeom prst="rect">
            <a:avLst/>
          </a:prstGeom>
          <a:noFill/>
          <a:ln/>
        </p:spPr>
        <p:txBody>
          <a:bodyPr wrap="square" lIns="0" tIns="0" rIns="0" bIns="0" rtlCol="0" anchor="ctr"/>
          <a:lstStyle/>
          <a:p>
            <a:pPr indent="0" marL="0">
              <a:buNone/>
            </a:pPr>
            <a:r>
              <a:rPr lang="en-US" sz="11000" b="1" dirty="0">
                <a:solidFill>
                  <a:srgbClr val="C0392B"/>
                </a:solidFill>
                <a:latin typeface="Cambria" pitchFamily="34" charset="0"/>
                <a:ea typeface="Cambria" pitchFamily="34" charset="-122"/>
                <a:cs typeface="Cambria" pitchFamily="34" charset="-120"/>
              </a:rPr>
              <a:t>17</a:t>
            </a:r>
            <a:endParaRPr lang="en-US" sz="11000" dirty="0"/>
          </a:p>
        </p:txBody>
      </p:sp>
      <p:sp>
        <p:nvSpPr>
          <p:cNvPr id="4" name="Text 2"/>
          <p:cNvSpPr txBox="1"/>
          <p:nvPr/>
        </p:nvSpPr>
        <p:spPr>
          <a:xfrm>
            <a:off x="548640" y="3291840"/>
            <a:ext cx="3017520" cy="822960"/>
          </a:xfrm>
          <a:prstGeom prst="rect">
            <a:avLst/>
          </a:prstGeom>
          <a:noFill/>
          <a:ln/>
        </p:spPr>
        <p:txBody>
          <a:bodyPr wrap="square" lIns="0" tIns="0" rIns="0" bIns="0" rtlCol="0" anchor="ctr"/>
          <a:lstStyle/>
          <a:p>
            <a:pPr indent="0" marL="0">
              <a:buNone/>
            </a:pPr>
            <a:r>
              <a:rPr lang="en-US" sz="1800" dirty="0">
                <a:solidFill>
                  <a:srgbClr val="5B6770"/>
                </a:solidFill>
                <a:latin typeface="Calibri" pitchFamily="34" charset="0"/>
                <a:ea typeface="Calibri" pitchFamily="34" charset="-122"/>
                <a:cs typeface="Calibri" pitchFamily="34" charset="-120"/>
              </a:rPr>
              <a:t>riesgos de nivel alto de 24 identificados</a:t>
            </a:r>
            <a:endParaRPr lang="en-US" sz="1800" dirty="0"/>
          </a:p>
        </p:txBody>
      </p:sp>
      <p:sp>
        <p:nvSpPr>
          <p:cNvPr id="5" name="Shape 3"/>
          <p:cNvSpPr/>
          <p:nvPr/>
        </p:nvSpPr>
        <p:spPr>
          <a:xfrm>
            <a:off x="3931920" y="1554480"/>
            <a:ext cx="37490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6" name="Shape 4"/>
          <p:cNvSpPr/>
          <p:nvPr/>
        </p:nvSpPr>
        <p:spPr>
          <a:xfrm>
            <a:off x="4160520" y="1783080"/>
            <a:ext cx="640080" cy="640080"/>
          </a:xfrm>
          <a:prstGeom prst="ellipse">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4320540" y="1943100"/>
            <a:ext cx="320040" cy="320040"/>
          </a:xfrm>
          <a:prstGeom prst="rect">
            <a:avLst/>
          </a:prstGeom>
        </p:spPr>
      </p:pic>
      <p:sp>
        <p:nvSpPr>
          <p:cNvPr id="8" name="Text 5"/>
          <p:cNvSpPr txBox="1"/>
          <p:nvPr/>
        </p:nvSpPr>
        <p:spPr>
          <a:xfrm>
            <a:off x="4937760" y="1874520"/>
            <a:ext cx="2560320" cy="457200"/>
          </a:xfrm>
          <a:prstGeom prst="rect">
            <a:avLst/>
          </a:prstGeom>
          <a:noFill/>
          <a:ln/>
        </p:spPr>
        <p:txBody>
          <a:bodyPr wrap="square" lIns="0" tIns="0" rIns="0" bIns="0"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Seguridad</a:t>
            </a:r>
            <a:endParaRPr lang="en-US" sz="1900" dirty="0"/>
          </a:p>
        </p:txBody>
      </p:sp>
      <p:sp>
        <p:nvSpPr>
          <p:cNvPr id="9" name="Text 6"/>
          <p:cNvSpPr txBox="1"/>
          <p:nvPr/>
        </p:nvSpPr>
        <p:spPr>
          <a:xfrm>
            <a:off x="4206240" y="2514600"/>
            <a:ext cx="3291840" cy="91440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Contraseñas sin cifrar e iguales a la matrícula; credenciales de servidores dentro del código</a:t>
            </a:r>
            <a:endParaRPr lang="en-US" sz="1350" dirty="0"/>
          </a:p>
        </p:txBody>
      </p:sp>
      <p:sp>
        <p:nvSpPr>
          <p:cNvPr id="10" name="Shape 7"/>
          <p:cNvSpPr/>
          <p:nvPr/>
        </p:nvSpPr>
        <p:spPr>
          <a:xfrm>
            <a:off x="7955280" y="1554480"/>
            <a:ext cx="37490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1" name="Shape 8"/>
          <p:cNvSpPr/>
          <p:nvPr/>
        </p:nvSpPr>
        <p:spPr>
          <a:xfrm>
            <a:off x="8183880" y="1783080"/>
            <a:ext cx="640080" cy="640080"/>
          </a:xfrm>
          <a:prstGeom prst="ellipse">
            <a:avLst/>
          </a:prstGeom>
          <a:solidFill>
            <a:srgbClr val="8E44AD"/>
          </a:solidFill>
          <a:ln w="12700">
            <a:solidFill>
              <a:srgbClr val="8E44AD"/>
            </a:solidFill>
            <a:prstDash val="solid"/>
          </a:ln>
        </p:spPr>
      </p:sp>
      <p:pic>
        <p:nvPicPr>
          <p:cNvPr id="12" name="Image 1" descr="preencoded.png">    </p:cNvPr>
          <p:cNvPicPr>
            <a:picLocks noChangeAspect="1"/>
          </p:cNvPicPr>
          <p:nvPr/>
        </p:nvPicPr>
        <p:blipFill>
          <a:blip r:embed="rId2"/>
          <a:stretch>
            <a:fillRect/>
          </a:stretch>
        </p:blipFill>
        <p:spPr>
          <a:xfrm>
            <a:off x="8343900" y="1943100"/>
            <a:ext cx="320040" cy="320040"/>
          </a:xfrm>
          <a:prstGeom prst="rect">
            <a:avLst/>
          </a:prstGeom>
        </p:spPr>
      </p:pic>
      <p:sp>
        <p:nvSpPr>
          <p:cNvPr id="13" name="Text 9"/>
          <p:cNvSpPr txBox="1"/>
          <p:nvPr/>
        </p:nvSpPr>
        <p:spPr>
          <a:xfrm>
            <a:off x="8961120" y="1874520"/>
            <a:ext cx="2560320" cy="457200"/>
          </a:xfrm>
          <a:prstGeom prst="rect">
            <a:avLst/>
          </a:prstGeom>
          <a:noFill/>
          <a:ln/>
        </p:spPr>
        <p:txBody>
          <a:bodyPr wrap="square" lIns="0" tIns="0" rIns="0" bIns="0" rtlCol="0" anchor="ctr"/>
          <a:lstStyle/>
          <a:p>
            <a:pPr indent="0" marL="0">
              <a:buNone/>
            </a:pPr>
            <a:r>
              <a:rPr lang="en-US" sz="1900" b="1" dirty="0">
                <a:solidFill>
                  <a:srgbClr val="8E44AD"/>
                </a:solidFill>
                <a:latin typeface="Calibri" pitchFamily="34" charset="0"/>
                <a:ea typeface="Calibri" pitchFamily="34" charset="-122"/>
                <a:cs typeface="Calibri" pitchFamily="34" charset="-120"/>
              </a:rPr>
              <a:t>Legal</a:t>
            </a:r>
            <a:endParaRPr lang="en-US" sz="1900" dirty="0"/>
          </a:p>
        </p:txBody>
      </p:sp>
      <p:sp>
        <p:nvSpPr>
          <p:cNvPr id="14" name="Text 10"/>
          <p:cNvSpPr txBox="1"/>
          <p:nvPr/>
        </p:nvSpPr>
        <p:spPr>
          <a:xfrm>
            <a:off x="8229600" y="2514600"/>
            <a:ext cx="3291840" cy="91440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Documentos personales (kardex, IMSS) públicos; sin aviso de privacidad; sin licencia de uso</a:t>
            </a:r>
            <a:endParaRPr lang="en-US" sz="1350" dirty="0"/>
          </a:p>
        </p:txBody>
      </p:sp>
      <p:sp>
        <p:nvSpPr>
          <p:cNvPr id="15" name="Shape 11"/>
          <p:cNvSpPr/>
          <p:nvPr/>
        </p:nvSpPr>
        <p:spPr>
          <a:xfrm>
            <a:off x="3931920" y="3840480"/>
            <a:ext cx="37490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6" name="Shape 12"/>
          <p:cNvSpPr/>
          <p:nvPr/>
        </p:nvSpPr>
        <p:spPr>
          <a:xfrm>
            <a:off x="4160520" y="4069080"/>
            <a:ext cx="640080" cy="640080"/>
          </a:xfrm>
          <a:prstGeom prst="ellipse">
            <a:avLst/>
          </a:prstGeom>
          <a:solidFill>
            <a:srgbClr val="0E7C7B"/>
          </a:solidFill>
          <a:ln w="12700">
            <a:solidFill>
              <a:srgbClr val="0E7C7B"/>
            </a:solidFill>
            <a:prstDash val="solid"/>
          </a:ln>
        </p:spPr>
      </p:sp>
      <p:pic>
        <p:nvPicPr>
          <p:cNvPr id="17" name="Image 2" descr="preencoded.png">    </p:cNvPr>
          <p:cNvPicPr>
            <a:picLocks noChangeAspect="1"/>
          </p:cNvPicPr>
          <p:nvPr/>
        </p:nvPicPr>
        <p:blipFill>
          <a:blip r:embed="rId3"/>
          <a:stretch>
            <a:fillRect/>
          </a:stretch>
        </p:blipFill>
        <p:spPr>
          <a:xfrm>
            <a:off x="4320540" y="4229100"/>
            <a:ext cx="320040" cy="320040"/>
          </a:xfrm>
          <a:prstGeom prst="rect">
            <a:avLst/>
          </a:prstGeom>
        </p:spPr>
      </p:pic>
      <p:sp>
        <p:nvSpPr>
          <p:cNvPr id="18" name="Text 13"/>
          <p:cNvSpPr txBox="1"/>
          <p:nvPr/>
        </p:nvSpPr>
        <p:spPr>
          <a:xfrm>
            <a:off x="4937760" y="4160520"/>
            <a:ext cx="2560320" cy="457200"/>
          </a:xfrm>
          <a:prstGeom prst="rect">
            <a:avLst/>
          </a:prstGeom>
          <a:noFill/>
          <a:ln/>
        </p:spPr>
        <p:txBody>
          <a:bodyPr wrap="square" lIns="0" tIns="0" rIns="0" bIns="0" rtlCol="0" anchor="ctr"/>
          <a:lstStyle/>
          <a:p>
            <a:pPr indent="0" marL="0">
              <a:buNone/>
            </a:pPr>
            <a:r>
              <a:rPr lang="en-US" sz="1900" b="1" dirty="0">
                <a:solidFill>
                  <a:srgbClr val="0E7C7B"/>
                </a:solidFill>
                <a:latin typeface="Calibri" pitchFamily="34" charset="0"/>
                <a:ea typeface="Calibri" pitchFamily="34" charset="-122"/>
                <a:cs typeface="Calibri" pitchFamily="34" charset="-120"/>
              </a:rPr>
              <a:t>Técnico</a:t>
            </a:r>
            <a:endParaRPr lang="en-US" sz="1900" dirty="0"/>
          </a:p>
        </p:txBody>
      </p:sp>
      <p:sp>
        <p:nvSpPr>
          <p:cNvPr id="19" name="Text 14"/>
          <p:cNvSpPr txBox="1"/>
          <p:nvPr/>
        </p:nvSpPr>
        <p:spPr>
          <a:xfrm>
            <a:off x="4206240" y="4800600"/>
            <a:ext cx="3291840" cy="91440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Base de datos incompleta; librerías obsoletas; sin pruebas</a:t>
            </a:r>
            <a:endParaRPr lang="en-US" sz="1350" dirty="0"/>
          </a:p>
        </p:txBody>
      </p:sp>
      <p:sp>
        <p:nvSpPr>
          <p:cNvPr id="20" name="Shape 15"/>
          <p:cNvSpPr/>
          <p:nvPr/>
        </p:nvSpPr>
        <p:spPr>
          <a:xfrm>
            <a:off x="7955280" y="3840480"/>
            <a:ext cx="37490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1" name="Shape 16"/>
          <p:cNvSpPr/>
          <p:nvPr/>
        </p:nvSpPr>
        <p:spPr>
          <a:xfrm>
            <a:off x="8183880" y="4069080"/>
            <a:ext cx="640080" cy="640080"/>
          </a:xfrm>
          <a:prstGeom prst="ellipse">
            <a:avLst/>
          </a:prstGeom>
          <a:solidFill>
            <a:srgbClr val="E8913A"/>
          </a:solidFill>
          <a:ln w="12700">
            <a:solidFill>
              <a:srgbClr val="E8913A"/>
            </a:solidFill>
            <a:prstDash val="solid"/>
          </a:ln>
        </p:spPr>
      </p:sp>
      <p:pic>
        <p:nvPicPr>
          <p:cNvPr id="22" name="Image 3" descr="preencoded.png">    </p:cNvPr>
          <p:cNvPicPr>
            <a:picLocks noChangeAspect="1"/>
          </p:cNvPicPr>
          <p:nvPr/>
        </p:nvPicPr>
        <p:blipFill>
          <a:blip r:embed="rId4"/>
          <a:stretch>
            <a:fillRect/>
          </a:stretch>
        </p:blipFill>
        <p:spPr>
          <a:xfrm>
            <a:off x="8343900" y="4229100"/>
            <a:ext cx="320040" cy="320040"/>
          </a:xfrm>
          <a:prstGeom prst="rect">
            <a:avLst/>
          </a:prstGeom>
        </p:spPr>
      </p:pic>
      <p:sp>
        <p:nvSpPr>
          <p:cNvPr id="23" name="Text 17"/>
          <p:cNvSpPr txBox="1"/>
          <p:nvPr/>
        </p:nvSpPr>
        <p:spPr>
          <a:xfrm>
            <a:off x="8961120" y="4160520"/>
            <a:ext cx="2560320" cy="457200"/>
          </a:xfrm>
          <a:prstGeom prst="rect">
            <a:avLst/>
          </a:prstGeom>
          <a:noFill/>
          <a:ln/>
        </p:spPr>
        <p:txBody>
          <a:bodyPr wrap="square" lIns="0" tIns="0" rIns="0" bIns="0" rtlCol="0" anchor="ctr"/>
          <a:lstStyle/>
          <a:p>
            <a:pPr indent="0" marL="0">
              <a:buNone/>
            </a:pPr>
            <a:r>
              <a:rPr lang="en-US" sz="1900" b="1" dirty="0">
                <a:solidFill>
                  <a:srgbClr val="E8913A"/>
                </a:solidFill>
                <a:latin typeface="Calibri" pitchFamily="34" charset="0"/>
                <a:ea typeface="Calibri" pitchFamily="34" charset="-122"/>
                <a:cs typeface="Calibri" pitchFamily="34" charset="-120"/>
              </a:rPr>
              <a:t>Proyecto</a:t>
            </a:r>
            <a:endParaRPr lang="en-US" sz="1900" dirty="0"/>
          </a:p>
        </p:txBody>
      </p:sp>
      <p:sp>
        <p:nvSpPr>
          <p:cNvPr id="24" name="Text 18"/>
          <p:cNvSpPr txBox="1"/>
          <p:nvPr/>
        </p:nvSpPr>
        <p:spPr>
          <a:xfrm>
            <a:off x="8229600" y="4800600"/>
            <a:ext cx="3291840" cy="91440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Una sola persona conoce el sistema; sin documentación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Dónde está el peligro</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Probabilidad × impacto de cada riesgo</a:t>
            </a:r>
            <a:endParaRPr lang="en-US" sz="1500" dirty="0"/>
          </a:p>
        </p:txBody>
      </p:sp>
      <p:pic>
        <p:nvPicPr>
          <p:cNvPr id="4" name="Image 0" descr="mapa-calor.png">    </p:cNvPr>
          <p:cNvPicPr>
            <a:picLocks noChangeAspect="1"/>
          </p:cNvPicPr>
          <p:nvPr/>
        </p:nvPicPr>
        <p:blipFill>
          <a:blip r:embed="rId1"/>
          <a:srcRect l="0" r="0" t="0" b="0"/>
          <a:stretch/>
        </p:blipFill>
        <p:spPr>
          <a:xfrm>
            <a:off x="548640" y="1508760"/>
            <a:ext cx="6035040" cy="4937760"/>
          </a:xfrm>
          <a:prstGeom prst="rect">
            <a:avLst/>
          </a:prstGeom>
        </p:spPr>
      </p:pic>
      <p:sp>
        <p:nvSpPr>
          <p:cNvPr id="5" name="Shape 2"/>
          <p:cNvSpPr/>
          <p:nvPr/>
        </p:nvSpPr>
        <p:spPr>
          <a:xfrm>
            <a:off x="6949440" y="1737360"/>
            <a:ext cx="4663440" cy="4206240"/>
          </a:xfrm>
          <a:prstGeom prst="roundRect">
            <a:avLst>
              <a:gd name="adj" fmla="val 2609"/>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6" name="Text 3"/>
          <p:cNvSpPr txBox="1"/>
          <p:nvPr/>
        </p:nvSpPr>
        <p:spPr>
          <a:xfrm>
            <a:off x="7223760" y="1920240"/>
            <a:ext cx="4206240" cy="45720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La zona roja concentra:</a:t>
            </a:r>
            <a:endParaRPr lang="en-US" sz="1800" dirty="0"/>
          </a:p>
        </p:txBody>
      </p:sp>
      <p:sp>
        <p:nvSpPr>
          <p:cNvPr id="7" name="Text 4"/>
          <p:cNvSpPr txBox="1"/>
          <p:nvPr/>
        </p:nvSpPr>
        <p:spPr>
          <a:xfrm>
            <a:off x="7223760" y="2560320"/>
            <a:ext cx="4206240"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Datos personales expuestos</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Contraseñas y credenciales inseguras</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Falta de aviso de privacidad</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Dependencia de una sola persona</a:t>
            </a:r>
            <a:endParaRPr lang="en-US" sz="1600" dirty="0"/>
          </a:p>
          <a:p>
            <a:pPr marL="342900" indent="-342900">
              <a:buSzPct val="100000"/>
              <a:buChar char="•"/>
            </a:pPr>
            <a:r>
              <a:rPr lang="en-US" sz="1600" dirty="0">
                <a:solidFill>
                  <a:srgbClr val="1F2933"/>
                </a:solidFill>
                <a:latin typeface="Calibri" pitchFamily="34" charset="0"/>
                <a:ea typeface="Calibri" pitchFamily="34" charset="-122"/>
                <a:cs typeface="Calibri" pitchFamily="34" charset="-120"/>
              </a:rPr>
              <a:t>Tecnología sin soporte</a:t>
            </a:r>
            <a:endParaRPr lang="en-US" sz="1600" dirty="0"/>
          </a:p>
        </p:txBody>
      </p:sp>
      <p:sp>
        <p:nvSpPr>
          <p:cNvPr id="8" name="Text 5"/>
          <p:cNvSpPr txBox="1"/>
          <p:nvPr/>
        </p:nvSpPr>
        <p:spPr>
          <a:xfrm>
            <a:off x="7223760" y="5120640"/>
            <a:ext cx="4206240" cy="457200"/>
          </a:xfrm>
          <a:prstGeom prst="rect">
            <a:avLst/>
          </a:prstGeom>
          <a:noFill/>
          <a:ln/>
        </p:spPr>
        <p:txBody>
          <a:bodyPr wrap="square" lIns="0" tIns="0" rIns="0" bIns="0" rtlCol="0" anchor="ctr"/>
          <a:lstStyle/>
          <a:p>
            <a:pPr indent="0" marL="0">
              <a:buNone/>
            </a:pPr>
            <a:r>
              <a:rPr lang="en-US" sz="1500" b="1" i="1" dirty="0">
                <a:solidFill>
                  <a:srgbClr val="0E7C7B"/>
                </a:solidFill>
                <a:latin typeface="Calibri" pitchFamily="34" charset="0"/>
                <a:ea typeface="Calibri" pitchFamily="34" charset="-122"/>
                <a:cs typeface="Calibri" pitchFamily="34" charset="-120"/>
              </a:rPr>
              <a:t>Todos tienen solución dentro del plan.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Tres opciones; recomendamos modernizar</a:t>
            </a:r>
            <a:endParaRPr lang="en-US" sz="3400" dirty="0"/>
          </a:p>
        </p:txBody>
      </p:sp>
      <p:sp>
        <p:nvSpPr>
          <p:cNvPr id="3" name="Shape 1"/>
          <p:cNvSpPr/>
          <p:nvPr/>
        </p:nvSpPr>
        <p:spPr>
          <a:xfrm>
            <a:off x="548640" y="1737360"/>
            <a:ext cx="3566160" cy="4114800"/>
          </a:xfrm>
          <a:prstGeom prst="roundRect">
            <a:avLst>
              <a:gd name="adj" fmla="val 3077"/>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4" name="Shape 2"/>
          <p:cNvSpPr/>
          <p:nvPr/>
        </p:nvSpPr>
        <p:spPr>
          <a:xfrm>
            <a:off x="1874520" y="2011680"/>
            <a:ext cx="914400" cy="914400"/>
          </a:xfrm>
          <a:prstGeom prst="ellipse">
            <a:avLst/>
          </a:prstGeom>
          <a:solidFill>
            <a:srgbClr val="C0392B"/>
          </a:solidFill>
          <a:ln w="12700">
            <a:solidFill>
              <a:srgbClr val="C0392B"/>
            </a:solidFill>
            <a:prstDash val="solid"/>
          </a:ln>
        </p:spPr>
      </p:sp>
      <p:pic>
        <p:nvPicPr>
          <p:cNvPr id="5" name="Image 0" descr="preencoded.png">    </p:cNvPr>
          <p:cNvPicPr>
            <a:picLocks noChangeAspect="1"/>
          </p:cNvPicPr>
          <p:nvPr/>
        </p:nvPicPr>
        <p:blipFill>
          <a:blip r:embed="rId1"/>
          <a:stretch>
            <a:fillRect/>
          </a:stretch>
        </p:blipFill>
        <p:spPr>
          <a:xfrm>
            <a:off x="2103120" y="2240280"/>
            <a:ext cx="457200" cy="457200"/>
          </a:xfrm>
          <a:prstGeom prst="rect">
            <a:avLst/>
          </a:prstGeom>
        </p:spPr>
      </p:pic>
      <p:sp>
        <p:nvSpPr>
          <p:cNvPr id="6" name="Text 3"/>
          <p:cNvSpPr txBox="1"/>
          <p:nvPr/>
        </p:nvSpPr>
        <p:spPr>
          <a:xfrm>
            <a:off x="731520" y="3063240"/>
            <a:ext cx="3200400" cy="548640"/>
          </a:xfrm>
          <a:prstGeom prst="rect">
            <a:avLst/>
          </a:prstGeom>
          <a:noFill/>
          <a:ln/>
        </p:spPr>
        <p:txBody>
          <a:bodyPr wrap="square" lIns="0" tIns="0" rIns="0" bIns="0" rtlCol="0" anchor="ctr"/>
          <a:lstStyle/>
          <a:p>
            <a:pPr algn="ctr" indent="0" marL="0">
              <a:buNone/>
            </a:pPr>
            <a:r>
              <a:rPr lang="en-US" sz="2200" b="1" dirty="0">
                <a:solidFill>
                  <a:srgbClr val="C0392B"/>
                </a:solidFill>
                <a:latin typeface="Calibri" pitchFamily="34" charset="0"/>
                <a:ea typeface="Calibri" pitchFamily="34" charset="-122"/>
                <a:cs typeface="Calibri" pitchFamily="34" charset="-120"/>
              </a:rPr>
              <a:t>Adoptar tal cual</a:t>
            </a:r>
            <a:endParaRPr lang="en-US" sz="2200" dirty="0"/>
          </a:p>
        </p:txBody>
      </p:sp>
      <p:sp>
        <p:nvSpPr>
          <p:cNvPr id="7" name="Text 4"/>
          <p:cNvSpPr txBox="1"/>
          <p:nvPr/>
        </p:nvSpPr>
        <p:spPr>
          <a:xfrm>
            <a:off x="868680" y="3749040"/>
            <a:ext cx="2926080" cy="146304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Rápido y barato, pero expone los datos de los alumnos e incumple la ley.</a:t>
            </a:r>
            <a:endParaRPr lang="en-US" sz="1500" dirty="0"/>
          </a:p>
        </p:txBody>
      </p:sp>
      <p:sp>
        <p:nvSpPr>
          <p:cNvPr id="8" name="Shape 5"/>
          <p:cNvSpPr/>
          <p:nvPr/>
        </p:nvSpPr>
        <p:spPr>
          <a:xfrm>
            <a:off x="4389120" y="1463040"/>
            <a:ext cx="3566160" cy="4663440"/>
          </a:xfrm>
          <a:prstGeom prst="roundRect">
            <a:avLst>
              <a:gd name="adj" fmla="val 3077"/>
            </a:avLst>
          </a:prstGeom>
          <a:solidFill>
            <a:srgbClr val="E6F4F3"/>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9" name="Shape 6"/>
          <p:cNvSpPr/>
          <p:nvPr/>
        </p:nvSpPr>
        <p:spPr>
          <a:xfrm>
            <a:off x="5715000" y="1737360"/>
            <a:ext cx="914400" cy="91440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5943600" y="1965960"/>
            <a:ext cx="457200" cy="457200"/>
          </a:xfrm>
          <a:prstGeom prst="rect">
            <a:avLst/>
          </a:prstGeom>
        </p:spPr>
      </p:pic>
      <p:sp>
        <p:nvSpPr>
          <p:cNvPr id="11" name="Text 7"/>
          <p:cNvSpPr txBox="1"/>
          <p:nvPr/>
        </p:nvSpPr>
        <p:spPr>
          <a:xfrm>
            <a:off x="4572000" y="2834640"/>
            <a:ext cx="3200400" cy="548640"/>
          </a:xfrm>
          <a:prstGeom prst="rect">
            <a:avLst/>
          </a:prstGeom>
          <a:noFill/>
          <a:ln/>
        </p:spPr>
        <p:txBody>
          <a:bodyPr wrap="square" lIns="0" tIns="0" rIns="0" bIns="0" rtlCol="0" anchor="ctr"/>
          <a:lstStyle/>
          <a:p>
            <a:pPr algn="ctr" indent="0" marL="0">
              <a:buNone/>
            </a:pPr>
            <a:r>
              <a:rPr lang="en-US" sz="2200" b="1" dirty="0">
                <a:solidFill>
                  <a:srgbClr val="0E7C7B"/>
                </a:solidFill>
                <a:latin typeface="Calibri" pitchFamily="34" charset="0"/>
                <a:ea typeface="Calibri" pitchFamily="34" charset="-122"/>
                <a:cs typeface="Calibri" pitchFamily="34" charset="-120"/>
              </a:rPr>
              <a:t>Modernizar</a:t>
            </a:r>
            <a:endParaRPr lang="en-US" sz="2200" dirty="0"/>
          </a:p>
        </p:txBody>
      </p:sp>
      <p:sp>
        <p:nvSpPr>
          <p:cNvPr id="12" name="Text 8"/>
          <p:cNvSpPr txBox="1"/>
          <p:nvPr/>
        </p:nvSpPr>
        <p:spPr>
          <a:xfrm>
            <a:off x="4709160" y="3566160"/>
            <a:ext cx="2926080" cy="146304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Aprovecha lo que funciona y corrige lo peligroso. 28 semanas, riesgo controlado.</a:t>
            </a:r>
            <a:endParaRPr lang="en-US" sz="1500" dirty="0"/>
          </a:p>
        </p:txBody>
      </p:sp>
      <p:sp>
        <p:nvSpPr>
          <p:cNvPr id="13" name="Text 9"/>
          <p:cNvSpPr txBox="1"/>
          <p:nvPr/>
        </p:nvSpPr>
        <p:spPr>
          <a:xfrm>
            <a:off x="5212080" y="5394960"/>
            <a:ext cx="1920240" cy="411480"/>
          </a:xfrm>
          <a:prstGeom prst="rect">
            <a:avLst/>
          </a:prstGeom>
          <a:solidFill>
            <a:srgbClr val="0E7C7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RECOMENDADA</a:t>
            </a:r>
            <a:endParaRPr lang="en-US" sz="1300" dirty="0"/>
          </a:p>
        </p:txBody>
      </p:sp>
      <p:sp>
        <p:nvSpPr>
          <p:cNvPr id="14" name="Shape 10"/>
          <p:cNvSpPr/>
          <p:nvPr/>
        </p:nvSpPr>
        <p:spPr>
          <a:xfrm>
            <a:off x="8229600" y="1737360"/>
            <a:ext cx="3566160" cy="4114800"/>
          </a:xfrm>
          <a:prstGeom prst="roundRect">
            <a:avLst>
              <a:gd name="adj" fmla="val 3077"/>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5" name="Shape 11"/>
          <p:cNvSpPr/>
          <p:nvPr/>
        </p:nvSpPr>
        <p:spPr>
          <a:xfrm>
            <a:off x="9555480" y="2011680"/>
            <a:ext cx="914400" cy="914400"/>
          </a:xfrm>
          <a:prstGeom prst="ellipse">
            <a:avLst/>
          </a:prstGeom>
          <a:solidFill>
            <a:srgbClr val="E8913A"/>
          </a:solidFill>
          <a:ln w="12700">
            <a:solidFill>
              <a:srgbClr val="E8913A"/>
            </a:solidFill>
            <a:prstDash val="solid"/>
          </a:ln>
        </p:spPr>
      </p:sp>
      <p:pic>
        <p:nvPicPr>
          <p:cNvPr id="16" name="Image 2" descr="preencoded.png">    </p:cNvPr>
          <p:cNvPicPr>
            <a:picLocks noChangeAspect="1"/>
          </p:cNvPicPr>
          <p:nvPr/>
        </p:nvPicPr>
        <p:blipFill>
          <a:blip r:embed="rId3"/>
          <a:stretch>
            <a:fillRect/>
          </a:stretch>
        </p:blipFill>
        <p:spPr>
          <a:xfrm>
            <a:off x="9784080" y="2240280"/>
            <a:ext cx="457200" cy="457200"/>
          </a:xfrm>
          <a:prstGeom prst="rect">
            <a:avLst/>
          </a:prstGeom>
        </p:spPr>
      </p:pic>
      <p:sp>
        <p:nvSpPr>
          <p:cNvPr id="17" name="Text 12"/>
          <p:cNvSpPr txBox="1"/>
          <p:nvPr/>
        </p:nvSpPr>
        <p:spPr>
          <a:xfrm>
            <a:off x="8412480" y="3063240"/>
            <a:ext cx="3200400" cy="548640"/>
          </a:xfrm>
          <a:prstGeom prst="rect">
            <a:avLst/>
          </a:prstGeom>
          <a:noFill/>
          <a:ln/>
        </p:spPr>
        <p:txBody>
          <a:bodyPr wrap="square" lIns="0" tIns="0" rIns="0" bIns="0" rtlCol="0" anchor="ctr"/>
          <a:lstStyle/>
          <a:p>
            <a:pPr algn="ctr" indent="0" marL="0">
              <a:buNone/>
            </a:pPr>
            <a:r>
              <a:rPr lang="en-US" sz="2200" b="1" dirty="0">
                <a:solidFill>
                  <a:srgbClr val="E8913A"/>
                </a:solidFill>
                <a:latin typeface="Calibri" pitchFamily="34" charset="0"/>
                <a:ea typeface="Calibri" pitchFamily="34" charset="-122"/>
                <a:cs typeface="Calibri" pitchFamily="34" charset="-120"/>
              </a:rPr>
              <a:t>Desarrollar desde cero</a:t>
            </a:r>
            <a:endParaRPr lang="en-US" sz="2200" dirty="0"/>
          </a:p>
        </p:txBody>
      </p:sp>
      <p:sp>
        <p:nvSpPr>
          <p:cNvPr id="18" name="Text 13"/>
          <p:cNvSpPr txBox="1"/>
          <p:nvPr/>
        </p:nvSpPr>
        <p:spPr>
          <a:xfrm>
            <a:off x="8549640" y="3749040"/>
            <a:ext cx="2926080" cy="146304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Más tiempo y más riesgo; se pierde lo ya construido. Plan B si no hay permiso del autor.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Qué incluye la modernización</a:t>
            </a:r>
            <a:endParaRPr lang="en-US" sz="3400" dirty="0"/>
          </a:p>
        </p:txBody>
      </p:sp>
      <p:sp>
        <p:nvSpPr>
          <p:cNvPr id="3" name="Shape 1"/>
          <p:cNvSpPr/>
          <p:nvPr/>
        </p:nvSpPr>
        <p:spPr>
          <a:xfrm>
            <a:off x="548640" y="146304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4" name="Shape 2"/>
          <p:cNvSpPr/>
          <p:nvPr/>
        </p:nvSpPr>
        <p:spPr>
          <a:xfrm>
            <a:off x="777240" y="1737360"/>
            <a:ext cx="685800" cy="68580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948690" y="1908810"/>
            <a:ext cx="342900" cy="342900"/>
          </a:xfrm>
          <a:prstGeom prst="rect">
            <a:avLst/>
          </a:prstGeom>
        </p:spPr>
      </p:pic>
      <p:sp>
        <p:nvSpPr>
          <p:cNvPr id="6" name="Text 3"/>
          <p:cNvSpPr txBox="1"/>
          <p:nvPr/>
        </p:nvSpPr>
        <p:spPr>
          <a:xfrm>
            <a:off x="1600200" y="182880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Datos protegidos</a:t>
            </a:r>
            <a:endParaRPr lang="en-US" sz="1800" dirty="0"/>
          </a:p>
        </p:txBody>
      </p:sp>
      <p:sp>
        <p:nvSpPr>
          <p:cNvPr id="7" name="Text 4"/>
          <p:cNvSpPr txBox="1"/>
          <p:nvPr/>
        </p:nvSpPr>
        <p:spPr>
          <a:xfrm>
            <a:off x="822960" y="260604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Documentos privados, contraseñas cifradas, cero secretos en el código</a:t>
            </a:r>
            <a:endParaRPr lang="en-US" sz="1400" dirty="0"/>
          </a:p>
        </p:txBody>
      </p:sp>
      <p:sp>
        <p:nvSpPr>
          <p:cNvPr id="8" name="Shape 5"/>
          <p:cNvSpPr/>
          <p:nvPr/>
        </p:nvSpPr>
        <p:spPr>
          <a:xfrm>
            <a:off x="4389120" y="146304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9" name="Shape 6"/>
          <p:cNvSpPr/>
          <p:nvPr/>
        </p:nvSpPr>
        <p:spPr>
          <a:xfrm>
            <a:off x="4617720" y="1737360"/>
            <a:ext cx="685800" cy="68580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4789170" y="1908810"/>
            <a:ext cx="342900" cy="342900"/>
          </a:xfrm>
          <a:prstGeom prst="rect">
            <a:avLst/>
          </a:prstGeom>
        </p:spPr>
      </p:pic>
      <p:sp>
        <p:nvSpPr>
          <p:cNvPr id="11" name="Text 7"/>
          <p:cNvSpPr txBox="1"/>
          <p:nvPr/>
        </p:nvSpPr>
        <p:spPr>
          <a:xfrm>
            <a:off x="5440680" y="182880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En regla con la ley</a:t>
            </a:r>
            <a:endParaRPr lang="en-US" sz="1800" dirty="0"/>
          </a:p>
        </p:txBody>
      </p:sp>
      <p:sp>
        <p:nvSpPr>
          <p:cNvPr id="12" name="Text 8"/>
          <p:cNvSpPr txBox="1"/>
          <p:nvPr/>
        </p:nvSpPr>
        <p:spPr>
          <a:xfrm>
            <a:off x="4663440" y="260604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Aviso de privacidad y procedimiento de derechos ARCO</a:t>
            </a:r>
            <a:endParaRPr lang="en-US" sz="1400" dirty="0"/>
          </a:p>
        </p:txBody>
      </p:sp>
      <p:sp>
        <p:nvSpPr>
          <p:cNvPr id="13" name="Shape 9"/>
          <p:cNvSpPr/>
          <p:nvPr/>
        </p:nvSpPr>
        <p:spPr>
          <a:xfrm>
            <a:off x="8229600" y="146304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4" name="Shape 10"/>
          <p:cNvSpPr/>
          <p:nvPr/>
        </p:nvSpPr>
        <p:spPr>
          <a:xfrm>
            <a:off x="8458200" y="1737360"/>
            <a:ext cx="685800" cy="685800"/>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8629650" y="1908810"/>
            <a:ext cx="342900" cy="342900"/>
          </a:xfrm>
          <a:prstGeom prst="rect">
            <a:avLst/>
          </a:prstGeom>
        </p:spPr>
      </p:pic>
      <p:sp>
        <p:nvSpPr>
          <p:cNvPr id="16" name="Text 11"/>
          <p:cNvSpPr txBox="1"/>
          <p:nvPr/>
        </p:nvSpPr>
        <p:spPr>
          <a:xfrm>
            <a:off x="9281160" y="182880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Base de datos sólida</a:t>
            </a:r>
            <a:endParaRPr lang="en-US" sz="1800" dirty="0"/>
          </a:p>
        </p:txBody>
      </p:sp>
      <p:sp>
        <p:nvSpPr>
          <p:cNvPr id="17" name="Text 12"/>
          <p:cNvSpPr txBox="1"/>
          <p:nvPr/>
        </p:nvSpPr>
        <p:spPr>
          <a:xfrm>
            <a:off x="8503920" y="260604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Rediseñada, completa y con integridad</a:t>
            </a:r>
            <a:endParaRPr lang="en-US" sz="1400" dirty="0"/>
          </a:p>
        </p:txBody>
      </p:sp>
      <p:sp>
        <p:nvSpPr>
          <p:cNvPr id="18" name="Shape 13"/>
          <p:cNvSpPr/>
          <p:nvPr/>
        </p:nvSpPr>
        <p:spPr>
          <a:xfrm>
            <a:off x="548640" y="388620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9" name="Shape 14"/>
          <p:cNvSpPr/>
          <p:nvPr/>
        </p:nvSpPr>
        <p:spPr>
          <a:xfrm>
            <a:off x="777240" y="4160520"/>
            <a:ext cx="685800" cy="685800"/>
          </a:xfrm>
          <a:prstGeom prst="ellipse">
            <a:avLst/>
          </a:prstGeom>
          <a:solidFill>
            <a:srgbClr val="0E7C7B"/>
          </a:solidFill>
          <a:ln w="12700">
            <a:solidFill>
              <a:srgbClr val="0E7C7B"/>
            </a:solidFill>
            <a:prstDash val="solid"/>
          </a:ln>
        </p:spPr>
      </p:sp>
      <p:pic>
        <p:nvPicPr>
          <p:cNvPr id="20" name="Image 3" descr="preencoded.png">    </p:cNvPr>
          <p:cNvPicPr>
            <a:picLocks noChangeAspect="1"/>
          </p:cNvPicPr>
          <p:nvPr/>
        </p:nvPicPr>
        <p:blipFill>
          <a:blip r:embed="rId4"/>
          <a:stretch>
            <a:fillRect/>
          </a:stretch>
        </p:blipFill>
        <p:spPr>
          <a:xfrm>
            <a:off x="948690" y="4331970"/>
            <a:ext cx="342900" cy="342900"/>
          </a:xfrm>
          <a:prstGeom prst="rect">
            <a:avLst/>
          </a:prstGeom>
        </p:spPr>
      </p:pic>
      <p:sp>
        <p:nvSpPr>
          <p:cNvPr id="21" name="Text 15"/>
          <p:cNvSpPr txBox="1"/>
          <p:nvPr/>
        </p:nvSpPr>
        <p:spPr>
          <a:xfrm>
            <a:off x="1600200" y="425196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Tecnología actual</a:t>
            </a:r>
            <a:endParaRPr lang="en-US" sz="1800" dirty="0"/>
          </a:p>
        </p:txBody>
      </p:sp>
      <p:sp>
        <p:nvSpPr>
          <p:cNvPr id="22" name="Text 16"/>
          <p:cNvSpPr txBox="1"/>
          <p:nvPr/>
        </p:nvSpPr>
        <p:spPr>
          <a:xfrm>
            <a:off x="822960" y="502920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Laravel 11 y PHP 8.2, con soporte vigente</a:t>
            </a:r>
            <a:endParaRPr lang="en-US" sz="1400" dirty="0"/>
          </a:p>
        </p:txBody>
      </p:sp>
      <p:sp>
        <p:nvSpPr>
          <p:cNvPr id="23" name="Shape 17"/>
          <p:cNvSpPr/>
          <p:nvPr/>
        </p:nvSpPr>
        <p:spPr>
          <a:xfrm>
            <a:off x="4389120" y="388620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4" name="Shape 18"/>
          <p:cNvSpPr/>
          <p:nvPr/>
        </p:nvSpPr>
        <p:spPr>
          <a:xfrm>
            <a:off x="4617720" y="4160520"/>
            <a:ext cx="685800" cy="685800"/>
          </a:xfrm>
          <a:prstGeom prst="ellipse">
            <a:avLst/>
          </a:prstGeom>
          <a:solidFill>
            <a:srgbClr val="0E7C7B"/>
          </a:solidFill>
          <a:ln w="12700">
            <a:solidFill>
              <a:srgbClr val="0E7C7B"/>
            </a:solidFill>
            <a:prstDash val="solid"/>
          </a:ln>
        </p:spPr>
      </p:sp>
      <p:pic>
        <p:nvPicPr>
          <p:cNvPr id="25" name="Image 4" descr="preencoded.png">    </p:cNvPr>
          <p:cNvPicPr>
            <a:picLocks noChangeAspect="1"/>
          </p:cNvPicPr>
          <p:nvPr/>
        </p:nvPicPr>
        <p:blipFill>
          <a:blip r:embed="rId5"/>
          <a:stretch>
            <a:fillRect/>
          </a:stretch>
        </p:blipFill>
        <p:spPr>
          <a:xfrm>
            <a:off x="4789170" y="4331970"/>
            <a:ext cx="342900" cy="342900"/>
          </a:xfrm>
          <a:prstGeom prst="rect">
            <a:avLst/>
          </a:prstGeom>
        </p:spPr>
      </p:pic>
      <p:sp>
        <p:nvSpPr>
          <p:cNvPr id="26" name="Text 19"/>
          <p:cNvSpPr txBox="1"/>
          <p:nvPr/>
        </p:nvSpPr>
        <p:spPr>
          <a:xfrm>
            <a:off x="5440680" y="425196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Funciones nuevas</a:t>
            </a:r>
            <a:endParaRPr lang="en-US" sz="1800" dirty="0"/>
          </a:p>
        </p:txBody>
      </p:sp>
      <p:sp>
        <p:nvSpPr>
          <p:cNvPr id="27" name="Text 20"/>
          <p:cNvSpPr txBox="1"/>
          <p:nvPr/>
        </p:nvSpPr>
        <p:spPr>
          <a:xfrm>
            <a:off x="4663440" y="502920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Anteproyecto, asignación de asesores y avisos por correo</a:t>
            </a:r>
            <a:endParaRPr lang="en-US" sz="1400" dirty="0"/>
          </a:p>
        </p:txBody>
      </p:sp>
      <p:sp>
        <p:nvSpPr>
          <p:cNvPr id="28" name="Shape 21"/>
          <p:cNvSpPr/>
          <p:nvPr/>
        </p:nvSpPr>
        <p:spPr>
          <a:xfrm>
            <a:off x="8229600" y="3886200"/>
            <a:ext cx="3611880" cy="2148840"/>
          </a:xfrm>
          <a:prstGeom prst="roundRect">
            <a:avLst>
              <a:gd name="adj" fmla="val 5106"/>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9" name="Shape 22"/>
          <p:cNvSpPr/>
          <p:nvPr/>
        </p:nvSpPr>
        <p:spPr>
          <a:xfrm>
            <a:off x="8458200" y="4160520"/>
            <a:ext cx="685800" cy="685800"/>
          </a:xfrm>
          <a:prstGeom prst="ellipse">
            <a:avLst/>
          </a:prstGeom>
          <a:solidFill>
            <a:srgbClr val="0E7C7B"/>
          </a:solidFill>
          <a:ln w="12700">
            <a:solidFill>
              <a:srgbClr val="0E7C7B"/>
            </a:solidFill>
            <a:prstDash val="solid"/>
          </a:ln>
        </p:spPr>
      </p:sp>
      <p:pic>
        <p:nvPicPr>
          <p:cNvPr id="30" name="Image 5" descr="preencoded.png">    </p:cNvPr>
          <p:cNvPicPr>
            <a:picLocks noChangeAspect="1"/>
          </p:cNvPicPr>
          <p:nvPr/>
        </p:nvPicPr>
        <p:blipFill>
          <a:blip r:embed="rId6"/>
          <a:stretch>
            <a:fillRect/>
          </a:stretch>
        </p:blipFill>
        <p:spPr>
          <a:xfrm>
            <a:off x="8629650" y="4331970"/>
            <a:ext cx="342900" cy="342900"/>
          </a:xfrm>
          <a:prstGeom prst="rect">
            <a:avLst/>
          </a:prstGeom>
        </p:spPr>
      </p:pic>
      <p:sp>
        <p:nvSpPr>
          <p:cNvPr id="31" name="Text 23"/>
          <p:cNvSpPr txBox="1"/>
          <p:nvPr/>
        </p:nvSpPr>
        <p:spPr>
          <a:xfrm>
            <a:off x="9281160" y="4251960"/>
            <a:ext cx="2468880" cy="50292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Listo para operar</a:t>
            </a:r>
            <a:endParaRPr lang="en-US" sz="1800" dirty="0"/>
          </a:p>
        </p:txBody>
      </p:sp>
      <p:sp>
        <p:nvSpPr>
          <p:cNvPr id="32" name="Text 24"/>
          <p:cNvSpPr txBox="1"/>
          <p:nvPr/>
        </p:nvSpPr>
        <p:spPr>
          <a:xfrm>
            <a:off x="8503920" y="5029200"/>
            <a:ext cx="3108960" cy="86868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Pruebas, manuales y capacitación del personal</a:t>
            </a:r>
            <a:endParaRPr lang="en-US" sz="1400" dirty="0"/>
          </a:p>
        </p:txBody>
      </p:sp>
      <p:sp>
        <p:nvSpPr>
          <p:cNvPr id="33" name="Text 25"/>
          <p:cNvSpPr txBox="1"/>
          <p:nvPr/>
        </p:nvSpPr>
        <p:spPr>
          <a:xfrm>
            <a:off x="548640" y="6355080"/>
            <a:ext cx="10972800" cy="320040"/>
          </a:xfrm>
          <a:prstGeom prst="rect">
            <a:avLst/>
          </a:prstGeom>
          <a:noFill/>
          <a:ln/>
        </p:spPr>
        <p:txBody>
          <a:bodyPr wrap="square" lIns="0" tIns="0" rIns="0" bIns="0"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Fuera de alcance: integración con SII, app móvil nativa, módulo de exámenes.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Seis entregas en 28 semanas</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11 de enero – 23 de julio de 2027</a:t>
            </a:r>
            <a:endParaRPr lang="en-US" sz="1500" dirty="0"/>
          </a:p>
        </p:txBody>
      </p:sp>
      <p:sp>
        <p:nvSpPr>
          <p:cNvPr id="4" name="Shape 2"/>
          <p:cNvSpPr/>
          <p:nvPr/>
        </p:nvSpPr>
        <p:spPr>
          <a:xfrm>
            <a:off x="1371600" y="3246120"/>
            <a:ext cx="9418320" cy="0"/>
          </a:xfrm>
          <a:prstGeom prst="line">
            <a:avLst/>
          </a:prstGeom>
          <a:noFill/>
          <a:ln w="38100">
            <a:solidFill>
              <a:srgbClr val="0E7C7B"/>
            </a:solidFill>
            <a:prstDash val="solid"/>
          </a:ln>
        </p:spPr>
      </p:sp>
      <p:sp>
        <p:nvSpPr>
          <p:cNvPr id="5" name="Shape 3"/>
          <p:cNvSpPr/>
          <p:nvPr/>
        </p:nvSpPr>
        <p:spPr>
          <a:xfrm>
            <a:off x="960120" y="2834640"/>
            <a:ext cx="822960" cy="822960"/>
          </a:xfrm>
          <a:prstGeom prst="ellipse">
            <a:avLst/>
          </a:prstGeom>
          <a:solidFill>
            <a:srgbClr val="0E7C7B"/>
          </a:solidFill>
          <a:ln w="38100">
            <a:solidFill>
              <a:srgbClr val="FFFFFF"/>
            </a:solidFill>
            <a:prstDash val="solid"/>
          </a:ln>
        </p:spPr>
      </p:sp>
      <p:sp>
        <p:nvSpPr>
          <p:cNvPr id="6" name="Text 4"/>
          <p:cNvSpPr txBox="1"/>
          <p:nvPr/>
        </p:nvSpPr>
        <p:spPr>
          <a:xfrm>
            <a:off x="96012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M1</a:t>
            </a:r>
            <a:endParaRPr lang="en-US" sz="1700" dirty="0"/>
          </a:p>
        </p:txBody>
      </p:sp>
      <p:sp>
        <p:nvSpPr>
          <p:cNvPr id="7" name="Text 5"/>
          <p:cNvSpPr txBox="1"/>
          <p:nvPr/>
        </p:nvSpPr>
        <p:spPr>
          <a:xfrm>
            <a:off x="50292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05 feb</a:t>
            </a:r>
            <a:endParaRPr lang="en-US" sz="1700" dirty="0"/>
          </a:p>
        </p:txBody>
      </p:sp>
      <p:sp>
        <p:nvSpPr>
          <p:cNvPr id="8" name="Text 6"/>
          <p:cNvSpPr txBox="1"/>
          <p:nvPr/>
        </p:nvSpPr>
        <p:spPr>
          <a:xfrm>
            <a:off x="45720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Requerimientos validados</a:t>
            </a:r>
            <a:endParaRPr lang="en-US" sz="1400" dirty="0"/>
          </a:p>
        </p:txBody>
      </p:sp>
      <p:sp>
        <p:nvSpPr>
          <p:cNvPr id="9" name="Shape 7"/>
          <p:cNvSpPr/>
          <p:nvPr/>
        </p:nvSpPr>
        <p:spPr>
          <a:xfrm>
            <a:off x="2834640" y="2834640"/>
            <a:ext cx="822960" cy="822960"/>
          </a:xfrm>
          <a:prstGeom prst="ellipse">
            <a:avLst/>
          </a:prstGeom>
          <a:solidFill>
            <a:srgbClr val="0E7C7B"/>
          </a:solidFill>
          <a:ln w="38100">
            <a:solidFill>
              <a:srgbClr val="FFFFFF"/>
            </a:solidFill>
            <a:prstDash val="solid"/>
          </a:ln>
        </p:spPr>
      </p:sp>
      <p:sp>
        <p:nvSpPr>
          <p:cNvPr id="10" name="Text 8"/>
          <p:cNvSpPr txBox="1"/>
          <p:nvPr/>
        </p:nvSpPr>
        <p:spPr>
          <a:xfrm>
            <a:off x="283464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M2</a:t>
            </a:r>
            <a:endParaRPr lang="en-US" sz="1700" dirty="0"/>
          </a:p>
        </p:txBody>
      </p:sp>
      <p:sp>
        <p:nvSpPr>
          <p:cNvPr id="11" name="Text 9"/>
          <p:cNvSpPr txBox="1"/>
          <p:nvPr/>
        </p:nvSpPr>
        <p:spPr>
          <a:xfrm>
            <a:off x="237744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26 feb</a:t>
            </a:r>
            <a:endParaRPr lang="en-US" sz="1700" dirty="0"/>
          </a:p>
        </p:txBody>
      </p:sp>
      <p:sp>
        <p:nvSpPr>
          <p:cNvPr id="12" name="Text 10"/>
          <p:cNvSpPr txBox="1"/>
          <p:nvPr/>
        </p:nvSpPr>
        <p:spPr>
          <a:xfrm>
            <a:off x="233172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Datos protegidos y nueva BD</a:t>
            </a:r>
            <a:endParaRPr lang="en-US" sz="1400" dirty="0"/>
          </a:p>
        </p:txBody>
      </p:sp>
      <p:sp>
        <p:nvSpPr>
          <p:cNvPr id="13" name="Shape 11"/>
          <p:cNvSpPr/>
          <p:nvPr/>
        </p:nvSpPr>
        <p:spPr>
          <a:xfrm>
            <a:off x="4709160" y="2834640"/>
            <a:ext cx="822960" cy="822960"/>
          </a:xfrm>
          <a:prstGeom prst="ellipse">
            <a:avLst/>
          </a:prstGeom>
          <a:solidFill>
            <a:srgbClr val="0E7C7B"/>
          </a:solidFill>
          <a:ln w="38100">
            <a:solidFill>
              <a:srgbClr val="FFFFFF"/>
            </a:solidFill>
            <a:prstDash val="solid"/>
          </a:ln>
        </p:spPr>
      </p:sp>
      <p:sp>
        <p:nvSpPr>
          <p:cNvPr id="14" name="Text 12"/>
          <p:cNvSpPr txBox="1"/>
          <p:nvPr/>
        </p:nvSpPr>
        <p:spPr>
          <a:xfrm>
            <a:off x="470916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M3</a:t>
            </a:r>
            <a:endParaRPr lang="en-US" sz="1700" dirty="0"/>
          </a:p>
        </p:txBody>
      </p:sp>
      <p:sp>
        <p:nvSpPr>
          <p:cNvPr id="15" name="Text 13"/>
          <p:cNvSpPr txBox="1"/>
          <p:nvPr/>
        </p:nvSpPr>
        <p:spPr>
          <a:xfrm>
            <a:off x="425196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30 abr</a:t>
            </a:r>
            <a:endParaRPr lang="en-US" sz="1700" dirty="0"/>
          </a:p>
        </p:txBody>
      </p:sp>
      <p:sp>
        <p:nvSpPr>
          <p:cNvPr id="16" name="Text 14"/>
          <p:cNvSpPr txBox="1"/>
          <p:nvPr/>
        </p:nvSpPr>
        <p:spPr>
          <a:xfrm>
            <a:off x="420624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Núcleo: solicitud y expediente</a:t>
            </a:r>
            <a:endParaRPr lang="en-US" sz="1400" dirty="0"/>
          </a:p>
        </p:txBody>
      </p:sp>
      <p:sp>
        <p:nvSpPr>
          <p:cNvPr id="17" name="Shape 15"/>
          <p:cNvSpPr/>
          <p:nvPr/>
        </p:nvSpPr>
        <p:spPr>
          <a:xfrm>
            <a:off x="6583680" y="2834640"/>
            <a:ext cx="822960" cy="822960"/>
          </a:xfrm>
          <a:prstGeom prst="ellipse">
            <a:avLst/>
          </a:prstGeom>
          <a:solidFill>
            <a:srgbClr val="0E7C7B"/>
          </a:solidFill>
          <a:ln w="38100">
            <a:solidFill>
              <a:srgbClr val="FFFFFF"/>
            </a:solidFill>
            <a:prstDash val="solid"/>
          </a:ln>
        </p:spPr>
      </p:sp>
      <p:sp>
        <p:nvSpPr>
          <p:cNvPr id="18" name="Text 16"/>
          <p:cNvSpPr txBox="1"/>
          <p:nvPr/>
        </p:nvSpPr>
        <p:spPr>
          <a:xfrm>
            <a:off x="658368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M4</a:t>
            </a:r>
            <a:endParaRPr lang="en-US" sz="1700" dirty="0"/>
          </a:p>
        </p:txBody>
      </p:sp>
      <p:sp>
        <p:nvSpPr>
          <p:cNvPr id="19" name="Text 17"/>
          <p:cNvSpPr txBox="1"/>
          <p:nvPr/>
        </p:nvSpPr>
        <p:spPr>
          <a:xfrm>
            <a:off x="612648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04 jun</a:t>
            </a:r>
            <a:endParaRPr lang="en-US" sz="1700" dirty="0"/>
          </a:p>
        </p:txBody>
      </p:sp>
      <p:sp>
        <p:nvSpPr>
          <p:cNvPr id="20" name="Text 18"/>
          <p:cNvSpPr txBox="1"/>
          <p:nvPr/>
        </p:nvSpPr>
        <p:spPr>
          <a:xfrm>
            <a:off x="608076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Evaluación, visitas y constancias</a:t>
            </a:r>
            <a:endParaRPr lang="en-US" sz="1400" dirty="0"/>
          </a:p>
        </p:txBody>
      </p:sp>
      <p:sp>
        <p:nvSpPr>
          <p:cNvPr id="21" name="Shape 19"/>
          <p:cNvSpPr/>
          <p:nvPr/>
        </p:nvSpPr>
        <p:spPr>
          <a:xfrm>
            <a:off x="8458200" y="2834640"/>
            <a:ext cx="822960" cy="822960"/>
          </a:xfrm>
          <a:prstGeom prst="ellipse">
            <a:avLst/>
          </a:prstGeom>
          <a:solidFill>
            <a:srgbClr val="0E7C7B"/>
          </a:solidFill>
          <a:ln w="38100">
            <a:solidFill>
              <a:srgbClr val="FFFFFF"/>
            </a:solidFill>
            <a:prstDash val="solid"/>
          </a:ln>
        </p:spPr>
      </p:sp>
      <p:sp>
        <p:nvSpPr>
          <p:cNvPr id="22" name="Text 20"/>
          <p:cNvSpPr txBox="1"/>
          <p:nvPr/>
        </p:nvSpPr>
        <p:spPr>
          <a:xfrm>
            <a:off x="845820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M5</a:t>
            </a:r>
            <a:endParaRPr lang="en-US" sz="1700" dirty="0"/>
          </a:p>
        </p:txBody>
      </p:sp>
      <p:sp>
        <p:nvSpPr>
          <p:cNvPr id="23" name="Text 21"/>
          <p:cNvSpPr txBox="1"/>
          <p:nvPr/>
        </p:nvSpPr>
        <p:spPr>
          <a:xfrm>
            <a:off x="800100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02 jul</a:t>
            </a:r>
            <a:endParaRPr lang="en-US" sz="1700" dirty="0"/>
          </a:p>
        </p:txBody>
      </p:sp>
      <p:sp>
        <p:nvSpPr>
          <p:cNvPr id="24" name="Text 22"/>
          <p:cNvSpPr txBox="1"/>
          <p:nvPr/>
        </p:nvSpPr>
        <p:spPr>
          <a:xfrm>
            <a:off x="795528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Probado y aceptado</a:t>
            </a:r>
            <a:endParaRPr lang="en-US" sz="1400" dirty="0"/>
          </a:p>
        </p:txBody>
      </p:sp>
      <p:sp>
        <p:nvSpPr>
          <p:cNvPr id="25" name="Shape 23"/>
          <p:cNvSpPr/>
          <p:nvPr/>
        </p:nvSpPr>
        <p:spPr>
          <a:xfrm>
            <a:off x="10332720" y="2834640"/>
            <a:ext cx="822960" cy="822960"/>
          </a:xfrm>
          <a:prstGeom prst="ellipse">
            <a:avLst/>
          </a:prstGeom>
          <a:solidFill>
            <a:srgbClr val="E8913A"/>
          </a:solidFill>
          <a:ln w="38100">
            <a:solidFill>
              <a:srgbClr val="FFFFFF"/>
            </a:solidFill>
            <a:prstDash val="solid"/>
          </a:ln>
        </p:spPr>
      </p:sp>
      <p:sp>
        <p:nvSpPr>
          <p:cNvPr id="26" name="Text 24"/>
          <p:cNvSpPr txBox="1"/>
          <p:nvPr/>
        </p:nvSpPr>
        <p:spPr>
          <a:xfrm>
            <a:off x="10332720" y="2834640"/>
            <a:ext cx="82296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M6</a:t>
            </a:r>
            <a:endParaRPr lang="en-US" sz="1700" dirty="0"/>
          </a:p>
        </p:txBody>
      </p:sp>
      <p:sp>
        <p:nvSpPr>
          <p:cNvPr id="27" name="Text 25"/>
          <p:cNvSpPr txBox="1"/>
          <p:nvPr/>
        </p:nvSpPr>
        <p:spPr>
          <a:xfrm>
            <a:off x="9875520" y="2103120"/>
            <a:ext cx="1737360" cy="457200"/>
          </a:xfrm>
          <a:prstGeom prst="rect">
            <a:avLst/>
          </a:prstGeom>
          <a:noFill/>
          <a:ln/>
        </p:spPr>
        <p:txBody>
          <a:bodyPr wrap="square" lIns="0" tIns="0" rIns="0" bIns="0" rtlCol="0" anchor="ctr"/>
          <a:lstStyle/>
          <a:p>
            <a:pPr algn="ctr" indent="0" marL="0">
              <a:buNone/>
            </a:pPr>
            <a:r>
              <a:rPr lang="en-US" sz="1700" b="1" dirty="0">
                <a:solidFill>
                  <a:srgbClr val="12263A"/>
                </a:solidFill>
                <a:latin typeface="Calibri" pitchFamily="34" charset="0"/>
                <a:ea typeface="Calibri" pitchFamily="34" charset="-122"/>
                <a:cs typeface="Calibri" pitchFamily="34" charset="-120"/>
              </a:rPr>
              <a:t>23 jul</a:t>
            </a:r>
            <a:endParaRPr lang="en-US" sz="1700" dirty="0"/>
          </a:p>
        </p:txBody>
      </p:sp>
      <p:sp>
        <p:nvSpPr>
          <p:cNvPr id="28" name="Text 26"/>
          <p:cNvSpPr txBox="1"/>
          <p:nvPr/>
        </p:nvSpPr>
        <p:spPr>
          <a:xfrm>
            <a:off x="9829800" y="3931920"/>
            <a:ext cx="1828800" cy="91440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En producción</a:t>
            </a:r>
            <a:endParaRPr lang="en-US" sz="1400" dirty="0"/>
          </a:p>
        </p:txBody>
      </p:sp>
      <p:sp>
        <p:nvSpPr>
          <p:cNvPr id="29" name="Text 27"/>
          <p:cNvSpPr txBox="1"/>
          <p:nvPr/>
        </p:nvSpPr>
        <p:spPr>
          <a:xfrm>
            <a:off x="548640" y="5577840"/>
            <a:ext cx="10972800" cy="457200"/>
          </a:xfrm>
          <a:prstGeom prst="rect">
            <a:avLst/>
          </a:prstGeom>
          <a:noFill/>
          <a:ln/>
        </p:spPr>
        <p:txBody>
          <a:bodyPr wrap="square" lIns="0" tIns="0" rIns="0" bIns="0" rtlCol="0" anchor="ctr"/>
          <a:lstStyle/>
          <a:p>
            <a:pPr algn="ctr" indent="0" marL="0">
              <a:buNone/>
            </a:pPr>
            <a:r>
              <a:rPr lang="en-US" sz="1600" i="1" dirty="0">
                <a:solidFill>
                  <a:srgbClr val="0E7C7B"/>
                </a:solidFill>
                <a:latin typeface="Calibri" pitchFamily="34" charset="0"/>
                <a:ea typeface="Calibri" pitchFamily="34" charset="-122"/>
                <a:cs typeface="Calibri" pitchFamily="34" charset="-120"/>
              </a:rPr>
              <a:t>En cada entrega: demostración y aprobación del cliente antes de avanzar.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Cronograma y ruta crítica</a:t>
            </a:r>
            <a:endParaRPr lang="en-US" sz="3400" dirty="0"/>
          </a:p>
        </p:txBody>
      </p:sp>
      <p:pic>
        <p:nvPicPr>
          <p:cNvPr id="3" name="Image 0" descr="cronograma.png">    </p:cNvPr>
          <p:cNvPicPr>
            <a:picLocks noChangeAspect="1"/>
          </p:cNvPicPr>
          <p:nvPr/>
        </p:nvPicPr>
        <p:blipFill>
          <a:blip r:embed="rId1"/>
          <a:srcRect l="0" r="0" t="0" b="0"/>
          <a:stretch/>
        </p:blipFill>
        <p:spPr>
          <a:xfrm>
            <a:off x="548640" y="1280160"/>
            <a:ext cx="8138160" cy="4846320"/>
          </a:xfrm>
          <a:prstGeom prst="rect">
            <a:avLst/>
          </a:prstGeom>
        </p:spPr>
      </p:pic>
      <p:sp>
        <p:nvSpPr>
          <p:cNvPr id="4" name="Shape 1"/>
          <p:cNvSpPr/>
          <p:nvPr/>
        </p:nvSpPr>
        <p:spPr>
          <a:xfrm>
            <a:off x="8961120" y="1463040"/>
            <a:ext cx="2697480" cy="4480560"/>
          </a:xfrm>
          <a:prstGeom prst="roundRect">
            <a:avLst>
              <a:gd name="adj" fmla="val 4068"/>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5" name="Text 2"/>
          <p:cNvSpPr txBox="1"/>
          <p:nvPr/>
        </p:nvSpPr>
        <p:spPr>
          <a:xfrm>
            <a:off x="8961120" y="1737360"/>
            <a:ext cx="2697480" cy="914400"/>
          </a:xfrm>
          <a:prstGeom prst="rect">
            <a:avLst/>
          </a:prstGeom>
          <a:noFill/>
          <a:ln/>
        </p:spPr>
        <p:txBody>
          <a:bodyPr wrap="square" lIns="0" tIns="0" rIns="0" bIns="0" rtlCol="0" anchor="ctr"/>
          <a:lstStyle/>
          <a:p>
            <a:pPr algn="ctr" indent="0" marL="0">
              <a:buNone/>
            </a:pPr>
            <a:r>
              <a:rPr lang="en-US" sz="5400" b="1" dirty="0">
                <a:solidFill>
                  <a:srgbClr val="C0392B"/>
                </a:solidFill>
                <a:latin typeface="Cambria" pitchFamily="34" charset="0"/>
                <a:ea typeface="Cambria" pitchFamily="34" charset="-122"/>
                <a:cs typeface="Cambria" pitchFamily="34" charset="-120"/>
              </a:rPr>
              <a:t>16</a:t>
            </a:r>
            <a:endParaRPr lang="en-US" sz="5400" dirty="0"/>
          </a:p>
        </p:txBody>
      </p:sp>
      <p:sp>
        <p:nvSpPr>
          <p:cNvPr id="6" name="Text 3"/>
          <p:cNvSpPr txBox="1"/>
          <p:nvPr/>
        </p:nvSpPr>
        <p:spPr>
          <a:xfrm>
            <a:off x="9144000" y="2697480"/>
            <a:ext cx="2331720" cy="731520"/>
          </a:xfrm>
          <a:prstGeom prst="rect">
            <a:avLst/>
          </a:prstGeom>
          <a:noFill/>
          <a:ln/>
        </p:spPr>
        <p:txBody>
          <a:bodyPr wrap="square" lIns="0" tIns="0" rIns="0" bIns="0" rtlCol="0" anchor="ctr"/>
          <a:lstStyle/>
          <a:p>
            <a:pPr algn="ctr" indent="0" marL="0">
              <a:buNone/>
            </a:pPr>
            <a:r>
              <a:rPr lang="en-US" sz="1400" dirty="0">
                <a:solidFill>
                  <a:srgbClr val="1F2933"/>
                </a:solidFill>
                <a:latin typeface="Calibri" pitchFamily="34" charset="0"/>
                <a:ea typeface="Calibri" pitchFamily="34" charset="-122"/>
                <a:cs typeface="Calibri" pitchFamily="34" charset="-120"/>
              </a:rPr>
              <a:t>de 25 tareas son críticas (en rojo)</a:t>
            </a:r>
            <a:endParaRPr lang="en-US" sz="1400" dirty="0"/>
          </a:p>
        </p:txBody>
      </p:sp>
      <p:sp>
        <p:nvSpPr>
          <p:cNvPr id="7" name="Text 4"/>
          <p:cNvSpPr txBox="1"/>
          <p:nvPr/>
        </p:nvSpPr>
        <p:spPr>
          <a:xfrm>
            <a:off x="9144000" y="3657600"/>
            <a:ext cx="2331720" cy="1463040"/>
          </a:xfrm>
          <a:prstGeom prst="rect">
            <a:avLst/>
          </a:prstGeom>
          <a:noFill/>
          <a:ln/>
        </p:spPr>
        <p:txBody>
          <a:bodyPr wrap="square" lIns="0" tIns="0" rIns="0" bIns="0" rtlCol="0" anchor="ctr"/>
          <a:lstStyle/>
          <a:p>
            <a:pPr algn="ctr" indent="0" marL="0">
              <a:buNone/>
            </a:pPr>
            <a:r>
              <a:rPr lang="en-US" sz="1350" dirty="0">
                <a:solidFill>
                  <a:srgbClr val="5B6770"/>
                </a:solidFill>
                <a:latin typeface="Calibri" pitchFamily="34" charset="0"/>
                <a:ea typeface="Calibri" pitchFamily="34" charset="-122"/>
                <a:cs typeface="Calibri" pitchFamily="34" charset="-120"/>
              </a:rPr>
              <a:t>Si una se retrasa, se retrasa la entrega. Las revisamos cada semana.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Inversión</a:t>
            </a:r>
            <a:endParaRPr lang="en-US" sz="3400" dirty="0"/>
          </a:p>
        </p:txBody>
      </p:sp>
      <p:sp>
        <p:nvSpPr>
          <p:cNvPr id="3" name="Text 1"/>
          <p:cNvSpPr txBox="1"/>
          <p:nvPr/>
        </p:nvSpPr>
        <p:spPr>
          <a:xfrm>
            <a:off x="548640" y="1554480"/>
            <a:ext cx="5486400" cy="1188720"/>
          </a:xfrm>
          <a:prstGeom prst="rect">
            <a:avLst/>
          </a:prstGeom>
          <a:noFill/>
          <a:ln/>
        </p:spPr>
        <p:txBody>
          <a:bodyPr wrap="square" lIns="0" tIns="0" rIns="0" bIns="0" rtlCol="0" anchor="ctr"/>
          <a:lstStyle/>
          <a:p>
            <a:pPr indent="0" marL="0">
              <a:buNone/>
            </a:pPr>
            <a:r>
              <a:rPr lang="en-US" sz="6600" b="1" dirty="0">
                <a:solidFill>
                  <a:srgbClr val="0E7C7B"/>
                </a:solidFill>
                <a:latin typeface="Cambria" pitchFamily="34" charset="0"/>
                <a:ea typeface="Cambria" pitchFamily="34" charset="-122"/>
                <a:cs typeface="Cambria" pitchFamily="34" charset="-120"/>
              </a:rPr>
              <a:t>$477,899</a:t>
            </a:r>
            <a:endParaRPr lang="en-US" sz="6600" dirty="0"/>
          </a:p>
        </p:txBody>
      </p:sp>
      <p:sp>
        <p:nvSpPr>
          <p:cNvPr id="4" name="Text 2"/>
          <p:cNvSpPr txBox="1"/>
          <p:nvPr/>
        </p:nvSpPr>
        <p:spPr>
          <a:xfrm>
            <a:off x="548640" y="2743200"/>
            <a:ext cx="5486400" cy="457200"/>
          </a:xfrm>
          <a:prstGeom prst="rect">
            <a:avLst/>
          </a:prstGeom>
          <a:noFill/>
          <a:ln/>
        </p:spPr>
        <p:txBody>
          <a:bodyPr wrap="square" lIns="0" tIns="0" rIns="0" bIns="0" rtlCol="0" anchor="ctr"/>
          <a:lstStyle/>
          <a:p>
            <a:pPr indent="0" marL="0">
              <a:buNone/>
            </a:pPr>
            <a:r>
              <a:rPr lang="en-US" sz="1600" dirty="0">
                <a:solidFill>
                  <a:srgbClr val="5B6770"/>
                </a:solidFill>
                <a:latin typeface="Calibri" pitchFamily="34" charset="0"/>
                <a:ea typeface="Calibri" pitchFamily="34" charset="-122"/>
                <a:cs typeface="Calibri" pitchFamily="34" charset="-120"/>
              </a:rPr>
              <a:t>MXN totales, con 15 % de contingencia · sin costo de licencias</a:t>
            </a:r>
            <a:endParaRPr lang="en-US" sz="1600" dirty="0"/>
          </a:p>
        </p:txBody>
      </p:sp>
      <p:sp>
        <p:nvSpPr>
          <p:cNvPr id="5" name="Text 3"/>
          <p:cNvSpPr txBox="1"/>
          <p:nvPr/>
        </p:nvSpPr>
        <p:spPr>
          <a:xfrm>
            <a:off x="548640" y="3474720"/>
            <a:ext cx="5303520" cy="182880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Equipo: 1 líder técnico + 2 desarrolladores</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Sustento: 502 puntos de función × productividad de industria</a:t>
            </a:r>
            <a:endParaRPr lang="en-US" sz="1500" dirty="0"/>
          </a:p>
          <a:p>
            <a:pPr marL="342900" indent="-342900">
              <a:buSzPct val="100000"/>
              <a:buChar char="•"/>
            </a:pPr>
            <a:r>
              <a:rPr lang="en-US" sz="1500" dirty="0">
                <a:solidFill>
                  <a:srgbClr val="1F2933"/>
                </a:solidFill>
                <a:latin typeface="Calibri" pitchFamily="34" charset="0"/>
                <a:ea typeface="Calibri" pitchFamily="34" charset="-122"/>
                <a:cs typeface="Calibri" pitchFamily="34" charset="-120"/>
              </a:rPr>
              <a:t>Salarios del mercado de San Luis Potosí</a:t>
            </a:r>
            <a:endParaRPr lang="en-US" sz="1500" dirty="0"/>
          </a:p>
        </p:txBody>
      </p:sp>
      <p:graphicFrame>
        <p:nvGraphicFramePr>
          <p:cNvPr id="6" name="Chart 0" descr=""/>
          <p:cNvGraphicFramePr/>
          <p:nvPr/>
        </p:nvGraphicFramePr>
        <p:xfrm>
          <a:off x="6309360" y="1371600"/>
          <a:ext cx="5394960" cy="4846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Pago contra entregas</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Ustedes pagan solo lo que ya revisaron y aprobaron</a:t>
            </a:r>
            <a:endParaRPr lang="en-US" sz="1500" dirty="0"/>
          </a:p>
        </p:txBody>
      </p:sp>
      <p:graphicFrame>
        <p:nvGraphicFramePr>
          <p:cNvPr id="4" name="Chart 0" descr=""/>
          <p:cNvGraphicFramePr/>
          <p:nvPr/>
        </p:nvGraphicFramePr>
        <p:xfrm>
          <a:off x="548640" y="15544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828800"/>
            <a:ext cx="3794760" cy="3931920"/>
          </a:xfrm>
          <a:prstGeom prst="roundRect">
            <a:avLst>
              <a:gd name="adj" fmla="val 289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6" name="Shape 3"/>
          <p:cNvSpPr/>
          <p:nvPr/>
        </p:nvSpPr>
        <p:spPr>
          <a:xfrm>
            <a:off x="9326880" y="2103120"/>
            <a:ext cx="822960" cy="822960"/>
          </a:xfrm>
          <a:prstGeom prst="ellipse">
            <a:avLst/>
          </a:prstGeom>
          <a:solidFill>
            <a:srgbClr val="E8913A"/>
          </a:solidFill>
          <a:ln w="12700">
            <a:solidFill>
              <a:srgbClr val="E8913A"/>
            </a:solidFill>
            <a:prstDash val="solid"/>
          </a:ln>
        </p:spPr>
      </p:sp>
      <p:pic>
        <p:nvPicPr>
          <p:cNvPr id="7" name="Image 0" descr="preencoded.png">    </p:cNvPr>
          <p:cNvPicPr>
            <a:picLocks noChangeAspect="1"/>
          </p:cNvPicPr>
          <p:nvPr/>
        </p:nvPicPr>
        <p:blipFill>
          <a:blip r:embed="rId2"/>
          <a:stretch>
            <a:fillRect/>
          </a:stretch>
        </p:blipFill>
        <p:spPr>
          <a:xfrm>
            <a:off x="9532620" y="2308860"/>
            <a:ext cx="411480" cy="411480"/>
          </a:xfrm>
          <a:prstGeom prst="rect">
            <a:avLst/>
          </a:prstGeom>
        </p:spPr>
      </p:pic>
      <p:sp>
        <p:nvSpPr>
          <p:cNvPr id="8" name="Text 4"/>
          <p:cNvSpPr txBox="1"/>
          <p:nvPr/>
        </p:nvSpPr>
        <p:spPr>
          <a:xfrm>
            <a:off x="8046720" y="3108960"/>
            <a:ext cx="3429000" cy="457200"/>
          </a:xfrm>
          <a:prstGeom prst="rect">
            <a:avLst/>
          </a:prstGeom>
          <a:noFill/>
          <a:ln/>
        </p:spPr>
        <p:txBody>
          <a:bodyPr wrap="square" lIns="0" tIns="0" rIns="0" bIns="0" rtlCol="0" anchor="ctr"/>
          <a:lstStyle/>
          <a:p>
            <a:pPr algn="ctr" indent="0" marL="0">
              <a:buNone/>
            </a:pPr>
            <a:r>
              <a:rPr lang="en-US" sz="1900" b="1" dirty="0">
                <a:solidFill>
                  <a:srgbClr val="12263A"/>
                </a:solidFill>
                <a:latin typeface="Calibri" pitchFamily="34" charset="0"/>
                <a:ea typeface="Calibri" pitchFamily="34" charset="-122"/>
                <a:cs typeface="Calibri" pitchFamily="34" charset="-120"/>
              </a:rPr>
              <a:t>Riesgo compartido</a:t>
            </a:r>
            <a:endParaRPr lang="en-US" sz="1900" dirty="0"/>
          </a:p>
        </p:txBody>
      </p:sp>
      <p:sp>
        <p:nvSpPr>
          <p:cNvPr id="9" name="Text 5"/>
          <p:cNvSpPr txBox="1"/>
          <p:nvPr/>
        </p:nvSpPr>
        <p:spPr>
          <a:xfrm>
            <a:off x="8138160" y="3749040"/>
            <a:ext cx="3246120" cy="1463040"/>
          </a:xfrm>
          <a:prstGeom prst="rect">
            <a:avLst/>
          </a:prstGeom>
          <a:noFill/>
          <a:ln/>
        </p:spPr>
        <p:txBody>
          <a:bodyPr wrap="square" lIns="0" tIns="0" rIns="0" bIns="0" rtlCol="0" anchor="ctr"/>
          <a:lstStyle/>
          <a:p>
            <a:pPr algn="ctr" indent="0" marL="0">
              <a:buNone/>
            </a:pPr>
            <a:r>
              <a:rPr lang="en-US" sz="1500" dirty="0">
                <a:solidFill>
                  <a:srgbClr val="5B6770"/>
                </a:solidFill>
                <a:latin typeface="Calibri" pitchFamily="34" charset="0"/>
                <a:ea typeface="Calibri" pitchFamily="34" charset="-122"/>
                <a:cs typeface="Calibri" pitchFamily="34" charset="-120"/>
              </a:rPr>
              <a:t>El 70 % del pago ocurre después de ver el sistema funcionando (M3 en adelante).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Cómo controlamos los riesgos del proyecto</a:t>
            </a:r>
            <a:endParaRPr lang="en-US" sz="3400" dirty="0"/>
          </a:p>
        </p:txBody>
      </p:sp>
      <p:sp>
        <p:nvSpPr>
          <p:cNvPr id="3" name="Shape 1"/>
          <p:cNvSpPr/>
          <p:nvPr/>
        </p:nvSpPr>
        <p:spPr>
          <a:xfrm>
            <a:off x="548640" y="1417320"/>
            <a:ext cx="11064240" cy="868680"/>
          </a:xfrm>
          <a:prstGeom prst="roundRect">
            <a:avLst>
              <a:gd name="adj" fmla="val 1263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4" name="Shape 2"/>
          <p:cNvSpPr/>
          <p:nvPr/>
        </p:nvSpPr>
        <p:spPr>
          <a:xfrm>
            <a:off x="731520" y="1527048"/>
            <a:ext cx="640080" cy="640080"/>
          </a:xfrm>
          <a:prstGeom prst="ellipse">
            <a:avLst/>
          </a:prstGeom>
          <a:solidFill>
            <a:srgbClr val="C0392B"/>
          </a:solidFill>
          <a:ln w="12700">
            <a:solidFill>
              <a:srgbClr val="C0392B"/>
            </a:solidFill>
            <a:prstDash val="solid"/>
          </a:ln>
        </p:spPr>
      </p:sp>
      <p:pic>
        <p:nvPicPr>
          <p:cNvPr id="5" name="Image 0" descr="preencoded.png">    </p:cNvPr>
          <p:cNvPicPr>
            <a:picLocks noChangeAspect="1"/>
          </p:cNvPicPr>
          <p:nvPr/>
        </p:nvPicPr>
        <p:blipFill>
          <a:blip r:embed="rId1"/>
          <a:stretch>
            <a:fillRect/>
          </a:stretch>
        </p:blipFill>
        <p:spPr>
          <a:xfrm>
            <a:off x="891540" y="1687068"/>
            <a:ext cx="320040" cy="320040"/>
          </a:xfrm>
          <a:prstGeom prst="rect">
            <a:avLst/>
          </a:prstGeom>
        </p:spPr>
      </p:pic>
      <p:sp>
        <p:nvSpPr>
          <p:cNvPr id="6" name="Text 3"/>
          <p:cNvSpPr txBox="1"/>
          <p:nvPr/>
        </p:nvSpPr>
        <p:spPr>
          <a:xfrm>
            <a:off x="1600200" y="1600200"/>
            <a:ext cx="3017520" cy="5029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Permiso del autor</a:t>
            </a:r>
            <a:endParaRPr lang="en-US" sz="1700" dirty="0"/>
          </a:p>
        </p:txBody>
      </p:sp>
      <p:sp>
        <p:nvSpPr>
          <p:cNvPr id="7" name="Text 4"/>
          <p:cNvSpPr txBox="1"/>
          <p:nvPr/>
        </p:nvSpPr>
        <p:spPr>
          <a:xfrm>
            <a:off x="4663440" y="1600200"/>
            <a:ext cx="6766560" cy="50292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Lo solicitamos en la semana 1; plan B definido si no llega en la semana 3</a:t>
            </a:r>
            <a:endParaRPr lang="en-US" sz="1500" dirty="0"/>
          </a:p>
        </p:txBody>
      </p:sp>
      <p:sp>
        <p:nvSpPr>
          <p:cNvPr id="8" name="Shape 5"/>
          <p:cNvSpPr/>
          <p:nvPr/>
        </p:nvSpPr>
        <p:spPr>
          <a:xfrm>
            <a:off x="548640" y="2423160"/>
            <a:ext cx="11064240" cy="868680"/>
          </a:xfrm>
          <a:prstGeom prst="roundRect">
            <a:avLst>
              <a:gd name="adj" fmla="val 1263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9" name="Shape 6"/>
          <p:cNvSpPr/>
          <p:nvPr/>
        </p:nvSpPr>
        <p:spPr>
          <a:xfrm>
            <a:off x="731520" y="2532888"/>
            <a:ext cx="640080" cy="64008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891540" y="2692908"/>
            <a:ext cx="320040" cy="320040"/>
          </a:xfrm>
          <a:prstGeom prst="rect">
            <a:avLst/>
          </a:prstGeom>
        </p:spPr>
      </p:pic>
      <p:sp>
        <p:nvSpPr>
          <p:cNvPr id="11" name="Text 7"/>
          <p:cNvSpPr txBox="1"/>
          <p:nvPr/>
        </p:nvSpPr>
        <p:spPr>
          <a:xfrm>
            <a:off x="1600200" y="2606040"/>
            <a:ext cx="3017520" cy="5029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Requerimientos del Tec</a:t>
            </a:r>
            <a:endParaRPr lang="en-US" sz="1700" dirty="0"/>
          </a:p>
        </p:txBody>
      </p:sp>
      <p:sp>
        <p:nvSpPr>
          <p:cNvPr id="12" name="Text 8"/>
          <p:cNvSpPr txBox="1"/>
          <p:nvPr/>
        </p:nvSpPr>
        <p:spPr>
          <a:xfrm>
            <a:off x="4663440" y="2606040"/>
            <a:ext cx="6766560" cy="50292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Validación firmada en M1 y control de cambios</a:t>
            </a:r>
            <a:endParaRPr lang="en-US" sz="1500" dirty="0"/>
          </a:p>
        </p:txBody>
      </p:sp>
      <p:sp>
        <p:nvSpPr>
          <p:cNvPr id="13" name="Shape 9"/>
          <p:cNvSpPr/>
          <p:nvPr/>
        </p:nvSpPr>
        <p:spPr>
          <a:xfrm>
            <a:off x="548640" y="3429000"/>
            <a:ext cx="11064240" cy="868680"/>
          </a:xfrm>
          <a:prstGeom prst="roundRect">
            <a:avLst>
              <a:gd name="adj" fmla="val 1263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4" name="Shape 10"/>
          <p:cNvSpPr/>
          <p:nvPr/>
        </p:nvSpPr>
        <p:spPr>
          <a:xfrm>
            <a:off x="731520" y="3538728"/>
            <a:ext cx="640080" cy="640080"/>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891540" y="3698748"/>
            <a:ext cx="320040" cy="320040"/>
          </a:xfrm>
          <a:prstGeom prst="rect">
            <a:avLst/>
          </a:prstGeom>
        </p:spPr>
      </p:pic>
      <p:sp>
        <p:nvSpPr>
          <p:cNvPr id="16" name="Text 11"/>
          <p:cNvSpPr txBox="1"/>
          <p:nvPr/>
        </p:nvSpPr>
        <p:spPr>
          <a:xfrm>
            <a:off x="1600200" y="3611880"/>
            <a:ext cx="3017520" cy="5029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Retrasos</a:t>
            </a:r>
            <a:endParaRPr lang="en-US" sz="1700" dirty="0"/>
          </a:p>
        </p:txBody>
      </p:sp>
      <p:sp>
        <p:nvSpPr>
          <p:cNvPr id="17" name="Text 12"/>
          <p:cNvSpPr txBox="1"/>
          <p:nvPr/>
        </p:nvSpPr>
        <p:spPr>
          <a:xfrm>
            <a:off x="4663440" y="3611880"/>
            <a:ext cx="6766560" cy="50292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Seguimiento semanal de la ruta crítica y uso de holguras</a:t>
            </a:r>
            <a:endParaRPr lang="en-US" sz="1500" dirty="0"/>
          </a:p>
        </p:txBody>
      </p:sp>
      <p:sp>
        <p:nvSpPr>
          <p:cNvPr id="18" name="Shape 13"/>
          <p:cNvSpPr/>
          <p:nvPr/>
        </p:nvSpPr>
        <p:spPr>
          <a:xfrm>
            <a:off x="548640" y="4434840"/>
            <a:ext cx="11064240" cy="868680"/>
          </a:xfrm>
          <a:prstGeom prst="roundRect">
            <a:avLst>
              <a:gd name="adj" fmla="val 1263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9" name="Shape 14"/>
          <p:cNvSpPr/>
          <p:nvPr/>
        </p:nvSpPr>
        <p:spPr>
          <a:xfrm>
            <a:off x="731520" y="4544568"/>
            <a:ext cx="640080" cy="640080"/>
          </a:xfrm>
          <a:prstGeom prst="ellipse">
            <a:avLst/>
          </a:prstGeom>
          <a:solidFill>
            <a:srgbClr val="0E7C7B"/>
          </a:solidFill>
          <a:ln w="12700">
            <a:solidFill>
              <a:srgbClr val="0E7C7B"/>
            </a:solidFill>
            <a:prstDash val="solid"/>
          </a:ln>
        </p:spPr>
      </p:sp>
      <p:pic>
        <p:nvPicPr>
          <p:cNvPr id="20" name="Image 3" descr="preencoded.png">    </p:cNvPr>
          <p:cNvPicPr>
            <a:picLocks noChangeAspect="1"/>
          </p:cNvPicPr>
          <p:nvPr/>
        </p:nvPicPr>
        <p:blipFill>
          <a:blip r:embed="rId4"/>
          <a:stretch>
            <a:fillRect/>
          </a:stretch>
        </p:blipFill>
        <p:spPr>
          <a:xfrm>
            <a:off x="891540" y="4704588"/>
            <a:ext cx="320040" cy="320040"/>
          </a:xfrm>
          <a:prstGeom prst="rect">
            <a:avLst/>
          </a:prstGeom>
        </p:spPr>
      </p:pic>
      <p:sp>
        <p:nvSpPr>
          <p:cNvPr id="21" name="Text 15"/>
          <p:cNvSpPr txBox="1"/>
          <p:nvPr/>
        </p:nvSpPr>
        <p:spPr>
          <a:xfrm>
            <a:off x="1600200" y="4617720"/>
            <a:ext cx="3017520" cy="5029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Estimación optimista</a:t>
            </a:r>
            <a:endParaRPr lang="en-US" sz="1700" dirty="0"/>
          </a:p>
        </p:txBody>
      </p:sp>
      <p:sp>
        <p:nvSpPr>
          <p:cNvPr id="22" name="Text 16"/>
          <p:cNvSpPr txBox="1"/>
          <p:nvPr/>
        </p:nvSpPr>
        <p:spPr>
          <a:xfrm>
            <a:off x="4663440" y="4617720"/>
            <a:ext cx="6766560" cy="50292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Contingencia del 15 % y re-estimación al cerrar M3</a:t>
            </a:r>
            <a:endParaRPr lang="en-US" sz="1500" dirty="0"/>
          </a:p>
        </p:txBody>
      </p:sp>
      <p:sp>
        <p:nvSpPr>
          <p:cNvPr id="23" name="Shape 17"/>
          <p:cNvSpPr/>
          <p:nvPr/>
        </p:nvSpPr>
        <p:spPr>
          <a:xfrm>
            <a:off x="548640" y="5440680"/>
            <a:ext cx="11064240" cy="868680"/>
          </a:xfrm>
          <a:prstGeom prst="roundRect">
            <a:avLst>
              <a:gd name="adj" fmla="val 12632"/>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4" name="Shape 18"/>
          <p:cNvSpPr/>
          <p:nvPr/>
        </p:nvSpPr>
        <p:spPr>
          <a:xfrm>
            <a:off x="731520" y="5550408"/>
            <a:ext cx="640080" cy="640080"/>
          </a:xfrm>
          <a:prstGeom prst="ellipse">
            <a:avLst/>
          </a:prstGeom>
          <a:solidFill>
            <a:srgbClr val="0E7C7B"/>
          </a:solidFill>
          <a:ln w="12700">
            <a:solidFill>
              <a:srgbClr val="0E7C7B"/>
            </a:solidFill>
            <a:prstDash val="solid"/>
          </a:ln>
        </p:spPr>
      </p:sp>
      <p:pic>
        <p:nvPicPr>
          <p:cNvPr id="25" name="Image 4" descr="preencoded.png">    </p:cNvPr>
          <p:cNvPicPr>
            <a:picLocks noChangeAspect="1"/>
          </p:cNvPicPr>
          <p:nvPr/>
        </p:nvPicPr>
        <p:blipFill>
          <a:blip r:embed="rId5"/>
          <a:stretch>
            <a:fillRect/>
          </a:stretch>
        </p:blipFill>
        <p:spPr>
          <a:xfrm>
            <a:off x="891540" y="5710428"/>
            <a:ext cx="320040" cy="320040"/>
          </a:xfrm>
          <a:prstGeom prst="rect">
            <a:avLst/>
          </a:prstGeom>
        </p:spPr>
      </p:pic>
      <p:sp>
        <p:nvSpPr>
          <p:cNvPr id="26" name="Text 19"/>
          <p:cNvSpPr txBox="1"/>
          <p:nvPr/>
        </p:nvSpPr>
        <p:spPr>
          <a:xfrm>
            <a:off x="1600200" y="5623560"/>
            <a:ext cx="3017520" cy="5029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Rotación del equipo</a:t>
            </a:r>
            <a:endParaRPr lang="en-US" sz="1700" dirty="0"/>
          </a:p>
        </p:txBody>
      </p:sp>
      <p:sp>
        <p:nvSpPr>
          <p:cNvPr id="27" name="Text 20"/>
          <p:cNvSpPr txBox="1"/>
          <p:nvPr/>
        </p:nvSpPr>
        <p:spPr>
          <a:xfrm>
            <a:off x="4663440" y="5623560"/>
            <a:ext cx="6766560" cy="50292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Revisión de código obligatoria y documentación continua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Cómo sabrán que quedó bien</a:t>
            </a:r>
            <a:endParaRPr lang="en-US" sz="34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Criterios de aceptación medibles</a:t>
            </a:r>
            <a:endParaRPr lang="en-US" sz="1500" dirty="0"/>
          </a:p>
        </p:txBody>
      </p:sp>
      <p:sp>
        <p:nvSpPr>
          <p:cNvPr id="4" name="Shape 2"/>
          <p:cNvSpPr/>
          <p:nvPr/>
        </p:nvSpPr>
        <p:spPr>
          <a:xfrm>
            <a:off x="548640" y="164592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5" name="Text 3"/>
          <p:cNvSpPr txBox="1"/>
          <p:nvPr/>
        </p:nvSpPr>
        <p:spPr>
          <a:xfrm>
            <a:off x="548640" y="187452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0</a:t>
            </a:r>
            <a:endParaRPr lang="en-US" sz="3800" dirty="0"/>
          </a:p>
        </p:txBody>
      </p:sp>
      <p:sp>
        <p:nvSpPr>
          <p:cNvPr id="6" name="Text 4"/>
          <p:cNvSpPr txBox="1"/>
          <p:nvPr/>
        </p:nvSpPr>
        <p:spPr>
          <a:xfrm>
            <a:off x="822960" y="278892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vulnerabilidades altas o críticas</a:t>
            </a:r>
            <a:endParaRPr lang="en-US" sz="1400" dirty="0"/>
          </a:p>
        </p:txBody>
      </p:sp>
      <p:sp>
        <p:nvSpPr>
          <p:cNvPr id="7" name="Shape 5"/>
          <p:cNvSpPr/>
          <p:nvPr/>
        </p:nvSpPr>
        <p:spPr>
          <a:xfrm>
            <a:off x="4389120" y="164592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8" name="Text 6"/>
          <p:cNvSpPr txBox="1"/>
          <p:nvPr/>
        </p:nvSpPr>
        <p:spPr>
          <a:xfrm>
            <a:off x="4389120" y="187452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0</a:t>
            </a:r>
            <a:endParaRPr lang="en-US" sz="3800" dirty="0"/>
          </a:p>
        </p:txBody>
      </p:sp>
      <p:sp>
        <p:nvSpPr>
          <p:cNvPr id="9" name="Text 7"/>
          <p:cNvSpPr txBox="1"/>
          <p:nvPr/>
        </p:nvSpPr>
        <p:spPr>
          <a:xfrm>
            <a:off x="4663440" y="278892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contraseñas o secretos expuestos</a:t>
            </a:r>
            <a:endParaRPr lang="en-US" sz="1400" dirty="0"/>
          </a:p>
        </p:txBody>
      </p:sp>
      <p:sp>
        <p:nvSpPr>
          <p:cNvPr id="10" name="Shape 8"/>
          <p:cNvSpPr/>
          <p:nvPr/>
        </p:nvSpPr>
        <p:spPr>
          <a:xfrm>
            <a:off x="8229600" y="164592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1" name="Text 9"/>
          <p:cNvSpPr txBox="1"/>
          <p:nvPr/>
        </p:nvSpPr>
        <p:spPr>
          <a:xfrm>
            <a:off x="8229600" y="187452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 60 %</a:t>
            </a:r>
            <a:endParaRPr lang="en-US" sz="3800" dirty="0"/>
          </a:p>
        </p:txBody>
      </p:sp>
      <p:sp>
        <p:nvSpPr>
          <p:cNvPr id="12" name="Text 10"/>
          <p:cNvSpPr txBox="1"/>
          <p:nvPr/>
        </p:nvSpPr>
        <p:spPr>
          <a:xfrm>
            <a:off x="8503920" y="278892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de pruebas automáticas en módulos críticos</a:t>
            </a:r>
            <a:endParaRPr lang="en-US" sz="1400" dirty="0"/>
          </a:p>
        </p:txBody>
      </p:sp>
      <p:sp>
        <p:nvSpPr>
          <p:cNvPr id="13" name="Shape 11"/>
          <p:cNvSpPr/>
          <p:nvPr/>
        </p:nvSpPr>
        <p:spPr>
          <a:xfrm>
            <a:off x="548640" y="397764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4" name="Text 12"/>
          <p:cNvSpPr txBox="1"/>
          <p:nvPr/>
        </p:nvSpPr>
        <p:spPr>
          <a:xfrm>
            <a:off x="548640" y="420624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 15 min</a:t>
            </a:r>
            <a:endParaRPr lang="en-US" sz="3800" dirty="0"/>
          </a:p>
        </p:txBody>
      </p:sp>
      <p:sp>
        <p:nvSpPr>
          <p:cNvPr id="15" name="Text 13"/>
          <p:cNvSpPr txBox="1"/>
          <p:nvPr/>
        </p:nvSpPr>
        <p:spPr>
          <a:xfrm>
            <a:off x="822960" y="512064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para que un alumno haga su solicitud sin ayuda</a:t>
            </a:r>
            <a:endParaRPr lang="en-US" sz="1400" dirty="0"/>
          </a:p>
        </p:txBody>
      </p:sp>
      <p:sp>
        <p:nvSpPr>
          <p:cNvPr id="16" name="Shape 14"/>
          <p:cNvSpPr/>
          <p:nvPr/>
        </p:nvSpPr>
        <p:spPr>
          <a:xfrm>
            <a:off x="4389120" y="397764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7" name="Text 15"/>
          <p:cNvSpPr txBox="1"/>
          <p:nvPr/>
        </p:nvSpPr>
        <p:spPr>
          <a:xfrm>
            <a:off x="4389120" y="420624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&lt; 1 h</a:t>
            </a:r>
            <a:endParaRPr lang="en-US" sz="3800" dirty="0"/>
          </a:p>
        </p:txBody>
      </p:sp>
      <p:sp>
        <p:nvSpPr>
          <p:cNvPr id="18" name="Text 16"/>
          <p:cNvSpPr txBox="1"/>
          <p:nvPr/>
        </p:nvSpPr>
        <p:spPr>
          <a:xfrm>
            <a:off x="4663440" y="512064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para instalarlo siguiendo el manual</a:t>
            </a:r>
            <a:endParaRPr lang="en-US" sz="1400" dirty="0"/>
          </a:p>
        </p:txBody>
      </p:sp>
      <p:sp>
        <p:nvSpPr>
          <p:cNvPr id="19" name="Shape 17"/>
          <p:cNvSpPr/>
          <p:nvPr/>
        </p:nvSpPr>
        <p:spPr>
          <a:xfrm>
            <a:off x="8229600" y="3977640"/>
            <a:ext cx="3611880" cy="2057400"/>
          </a:xfrm>
          <a:prstGeom prst="roundRect">
            <a:avLst>
              <a:gd name="adj" fmla="val 5333"/>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0" name="Text 18"/>
          <p:cNvSpPr txBox="1"/>
          <p:nvPr/>
        </p:nvSpPr>
        <p:spPr>
          <a:xfrm>
            <a:off x="8229600" y="4206240"/>
            <a:ext cx="3611880" cy="86868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100 %</a:t>
            </a:r>
            <a:endParaRPr lang="en-US" sz="3800" dirty="0"/>
          </a:p>
        </p:txBody>
      </p:sp>
      <p:sp>
        <p:nvSpPr>
          <p:cNvPr id="21" name="Text 19"/>
          <p:cNvSpPr txBox="1"/>
          <p:nvPr/>
        </p:nvSpPr>
        <p:spPr>
          <a:xfrm>
            <a:off x="8503920" y="5120640"/>
            <a:ext cx="3063240" cy="731520"/>
          </a:xfrm>
          <a:prstGeom prst="rect">
            <a:avLst/>
          </a:prstGeom>
          <a:noFill/>
          <a:ln/>
        </p:spPr>
        <p:txBody>
          <a:bodyPr wrap="square" lIns="0" tIns="0" rIns="0" bIns="0" rtlCol="0" anchor="ctr"/>
          <a:lstStyle/>
          <a:p>
            <a:pPr algn="ctr" indent="0" marL="0">
              <a:buNone/>
            </a:pPr>
            <a:r>
              <a:rPr lang="en-US" sz="1400" dirty="0">
                <a:solidFill>
                  <a:srgbClr val="5B6770"/>
                </a:solidFill>
                <a:latin typeface="Calibri" pitchFamily="34" charset="0"/>
                <a:ea typeface="Calibri" pitchFamily="34" charset="-122"/>
                <a:cs typeface="Calibri" pitchFamily="34" charset="-120"/>
              </a:rPr>
              <a:t>de funciones indispensables aceptadas por ustedes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400" b="1" dirty="0">
                <a:solidFill>
                  <a:srgbClr val="12263A"/>
                </a:solidFill>
                <a:latin typeface="Cambria" pitchFamily="34" charset="0"/>
                <a:ea typeface="Cambria" pitchFamily="34" charset="-122"/>
                <a:cs typeface="Cambria" pitchFamily="34" charset="-120"/>
              </a:rPr>
              <a:t>Equipo y comunicación</a:t>
            </a:r>
            <a:endParaRPr lang="en-US" sz="3400" dirty="0"/>
          </a:p>
        </p:txBody>
      </p:sp>
      <p:sp>
        <p:nvSpPr>
          <p:cNvPr id="3" name="Shape 1"/>
          <p:cNvSpPr/>
          <p:nvPr/>
        </p:nvSpPr>
        <p:spPr>
          <a:xfrm>
            <a:off x="548640" y="146304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4" name="Shape 2"/>
          <p:cNvSpPr/>
          <p:nvPr/>
        </p:nvSpPr>
        <p:spPr>
          <a:xfrm>
            <a:off x="1234440" y="1645920"/>
            <a:ext cx="777240" cy="777240"/>
          </a:xfrm>
          <a:prstGeom prst="ellipse">
            <a:avLst/>
          </a:prstGeom>
          <a:solidFill>
            <a:srgbClr val="E8913A"/>
          </a:solidFill>
          <a:ln w="12700">
            <a:solidFill>
              <a:srgbClr val="E8913A"/>
            </a:solidFill>
            <a:prstDash val="solid"/>
          </a:ln>
        </p:spPr>
      </p:sp>
      <p:pic>
        <p:nvPicPr>
          <p:cNvPr id="5" name="Image 0" descr="preencoded.png">    </p:cNvPr>
          <p:cNvPicPr>
            <a:picLocks noChangeAspect="1"/>
          </p:cNvPicPr>
          <p:nvPr/>
        </p:nvPicPr>
        <p:blipFill>
          <a:blip r:embed="rId1"/>
          <a:stretch>
            <a:fillRect/>
          </a:stretch>
        </p:blipFill>
        <p:spPr>
          <a:xfrm>
            <a:off x="1428750" y="1840230"/>
            <a:ext cx="388620" cy="388620"/>
          </a:xfrm>
          <a:prstGeom prst="rect">
            <a:avLst/>
          </a:prstGeom>
        </p:spPr>
      </p:pic>
      <p:sp>
        <p:nvSpPr>
          <p:cNvPr id="6" name="Text 3"/>
          <p:cNvSpPr txBox="1"/>
          <p:nvPr/>
        </p:nvSpPr>
        <p:spPr>
          <a:xfrm>
            <a:off x="640080" y="251460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[Nombre completo 1]</a:t>
            </a:r>
            <a:endParaRPr lang="en-US" sz="1250" dirty="0"/>
          </a:p>
        </p:txBody>
      </p:sp>
      <p:sp>
        <p:nvSpPr>
          <p:cNvPr id="7" name="Text 4"/>
          <p:cNvSpPr txBox="1"/>
          <p:nvPr/>
        </p:nvSpPr>
        <p:spPr>
          <a:xfrm>
            <a:off x="640080" y="292608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Director de proyecto</a:t>
            </a:r>
            <a:endParaRPr lang="en-US" sz="1150" dirty="0"/>
          </a:p>
        </p:txBody>
      </p:sp>
      <p:sp>
        <p:nvSpPr>
          <p:cNvPr id="8" name="Shape 5"/>
          <p:cNvSpPr/>
          <p:nvPr/>
        </p:nvSpPr>
        <p:spPr>
          <a:xfrm>
            <a:off x="2880360" y="146304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9" name="Shape 6"/>
          <p:cNvSpPr/>
          <p:nvPr/>
        </p:nvSpPr>
        <p:spPr>
          <a:xfrm>
            <a:off x="3566160" y="1645920"/>
            <a:ext cx="777240" cy="77724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3760470" y="1840230"/>
            <a:ext cx="388620" cy="388620"/>
          </a:xfrm>
          <a:prstGeom prst="rect">
            <a:avLst/>
          </a:prstGeom>
        </p:spPr>
      </p:pic>
      <p:sp>
        <p:nvSpPr>
          <p:cNvPr id="11" name="Text 7"/>
          <p:cNvSpPr txBox="1"/>
          <p:nvPr/>
        </p:nvSpPr>
        <p:spPr>
          <a:xfrm>
            <a:off x="2971800" y="251460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[Nombre completo 2]</a:t>
            </a:r>
            <a:endParaRPr lang="en-US" sz="1250" dirty="0"/>
          </a:p>
        </p:txBody>
      </p:sp>
      <p:sp>
        <p:nvSpPr>
          <p:cNvPr id="12" name="Text 8"/>
          <p:cNvSpPr txBox="1"/>
          <p:nvPr/>
        </p:nvSpPr>
        <p:spPr>
          <a:xfrm>
            <a:off x="2971800" y="292608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Alcance y cronograma</a:t>
            </a:r>
            <a:endParaRPr lang="en-US" sz="1150" dirty="0"/>
          </a:p>
        </p:txBody>
      </p:sp>
      <p:sp>
        <p:nvSpPr>
          <p:cNvPr id="13" name="Shape 9"/>
          <p:cNvSpPr/>
          <p:nvPr/>
        </p:nvSpPr>
        <p:spPr>
          <a:xfrm>
            <a:off x="5212080" y="146304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4" name="Shape 10"/>
          <p:cNvSpPr/>
          <p:nvPr/>
        </p:nvSpPr>
        <p:spPr>
          <a:xfrm>
            <a:off x="5897880" y="1645920"/>
            <a:ext cx="777240" cy="777240"/>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6092190" y="1840230"/>
            <a:ext cx="388620" cy="388620"/>
          </a:xfrm>
          <a:prstGeom prst="rect">
            <a:avLst/>
          </a:prstGeom>
        </p:spPr>
      </p:pic>
      <p:sp>
        <p:nvSpPr>
          <p:cNvPr id="16" name="Text 11"/>
          <p:cNvSpPr txBox="1"/>
          <p:nvPr/>
        </p:nvSpPr>
        <p:spPr>
          <a:xfrm>
            <a:off x="5303520" y="251460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[Integrante B1]</a:t>
            </a:r>
            <a:endParaRPr lang="en-US" sz="1250" dirty="0"/>
          </a:p>
        </p:txBody>
      </p:sp>
      <p:sp>
        <p:nvSpPr>
          <p:cNvPr id="17" name="Text 12"/>
          <p:cNvSpPr txBox="1"/>
          <p:nvPr/>
        </p:nvSpPr>
        <p:spPr>
          <a:xfrm>
            <a:off x="5303520" y="292608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Alcance y cronograma</a:t>
            </a:r>
            <a:endParaRPr lang="en-US" sz="1150" dirty="0"/>
          </a:p>
        </p:txBody>
      </p:sp>
      <p:sp>
        <p:nvSpPr>
          <p:cNvPr id="18" name="Shape 13"/>
          <p:cNvSpPr/>
          <p:nvPr/>
        </p:nvSpPr>
        <p:spPr>
          <a:xfrm>
            <a:off x="548640" y="370332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19" name="Shape 14"/>
          <p:cNvSpPr/>
          <p:nvPr/>
        </p:nvSpPr>
        <p:spPr>
          <a:xfrm>
            <a:off x="1234440" y="3886200"/>
            <a:ext cx="777240" cy="777240"/>
          </a:xfrm>
          <a:prstGeom prst="ellipse">
            <a:avLst/>
          </a:prstGeom>
          <a:solidFill>
            <a:srgbClr val="0E7C7B"/>
          </a:solidFill>
          <a:ln w="12700">
            <a:solidFill>
              <a:srgbClr val="0E7C7B"/>
            </a:solidFill>
            <a:prstDash val="solid"/>
          </a:ln>
        </p:spPr>
      </p:sp>
      <p:pic>
        <p:nvPicPr>
          <p:cNvPr id="20" name="Image 3" descr="preencoded.png">    </p:cNvPr>
          <p:cNvPicPr>
            <a:picLocks noChangeAspect="1"/>
          </p:cNvPicPr>
          <p:nvPr/>
        </p:nvPicPr>
        <p:blipFill>
          <a:blip r:embed="rId4"/>
          <a:stretch>
            <a:fillRect/>
          </a:stretch>
        </p:blipFill>
        <p:spPr>
          <a:xfrm>
            <a:off x="1428750" y="4080510"/>
            <a:ext cx="388620" cy="388620"/>
          </a:xfrm>
          <a:prstGeom prst="rect">
            <a:avLst/>
          </a:prstGeom>
        </p:spPr>
      </p:pic>
      <p:sp>
        <p:nvSpPr>
          <p:cNvPr id="21" name="Text 15"/>
          <p:cNvSpPr txBox="1"/>
          <p:nvPr/>
        </p:nvSpPr>
        <p:spPr>
          <a:xfrm>
            <a:off x="640080" y="475488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[Nombre completo 3]</a:t>
            </a:r>
            <a:endParaRPr lang="en-US" sz="1250" dirty="0"/>
          </a:p>
        </p:txBody>
      </p:sp>
      <p:sp>
        <p:nvSpPr>
          <p:cNvPr id="22" name="Text 16"/>
          <p:cNvSpPr txBox="1"/>
          <p:nvPr/>
        </p:nvSpPr>
        <p:spPr>
          <a:xfrm>
            <a:off x="640080" y="516636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Costos, riesgos y calidad</a:t>
            </a:r>
            <a:endParaRPr lang="en-US" sz="1150" dirty="0"/>
          </a:p>
        </p:txBody>
      </p:sp>
      <p:sp>
        <p:nvSpPr>
          <p:cNvPr id="23" name="Shape 17"/>
          <p:cNvSpPr/>
          <p:nvPr/>
        </p:nvSpPr>
        <p:spPr>
          <a:xfrm>
            <a:off x="2880360" y="370332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4" name="Shape 18"/>
          <p:cNvSpPr/>
          <p:nvPr/>
        </p:nvSpPr>
        <p:spPr>
          <a:xfrm>
            <a:off x="3566160" y="3886200"/>
            <a:ext cx="777240" cy="777240"/>
          </a:xfrm>
          <a:prstGeom prst="ellipse">
            <a:avLst/>
          </a:prstGeom>
          <a:solidFill>
            <a:srgbClr val="0E7C7B"/>
          </a:solidFill>
          <a:ln w="12700">
            <a:solidFill>
              <a:srgbClr val="0E7C7B"/>
            </a:solidFill>
            <a:prstDash val="solid"/>
          </a:ln>
        </p:spPr>
      </p:sp>
      <p:pic>
        <p:nvPicPr>
          <p:cNvPr id="25" name="Image 4" descr="preencoded.png">    </p:cNvPr>
          <p:cNvPicPr>
            <a:picLocks noChangeAspect="1"/>
          </p:cNvPicPr>
          <p:nvPr/>
        </p:nvPicPr>
        <p:blipFill>
          <a:blip r:embed="rId5"/>
          <a:stretch>
            <a:fillRect/>
          </a:stretch>
        </p:blipFill>
        <p:spPr>
          <a:xfrm>
            <a:off x="3760470" y="4080510"/>
            <a:ext cx="388620" cy="388620"/>
          </a:xfrm>
          <a:prstGeom prst="rect">
            <a:avLst/>
          </a:prstGeom>
        </p:spPr>
      </p:pic>
      <p:sp>
        <p:nvSpPr>
          <p:cNvPr id="26" name="Text 19"/>
          <p:cNvSpPr txBox="1"/>
          <p:nvPr/>
        </p:nvSpPr>
        <p:spPr>
          <a:xfrm>
            <a:off x="2971800" y="475488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[Integrante B2]</a:t>
            </a:r>
            <a:endParaRPr lang="en-US" sz="1250" dirty="0"/>
          </a:p>
        </p:txBody>
      </p:sp>
      <p:sp>
        <p:nvSpPr>
          <p:cNvPr id="27" name="Text 20"/>
          <p:cNvSpPr txBox="1"/>
          <p:nvPr/>
        </p:nvSpPr>
        <p:spPr>
          <a:xfrm>
            <a:off x="2971800" y="516636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Costos, riesgos y calidad</a:t>
            </a:r>
            <a:endParaRPr lang="en-US" sz="1150" dirty="0"/>
          </a:p>
        </p:txBody>
      </p:sp>
      <p:sp>
        <p:nvSpPr>
          <p:cNvPr id="28" name="Shape 21"/>
          <p:cNvSpPr/>
          <p:nvPr/>
        </p:nvSpPr>
        <p:spPr>
          <a:xfrm>
            <a:off x="5212080" y="3703320"/>
            <a:ext cx="2148840" cy="2011680"/>
          </a:xfrm>
          <a:prstGeom prst="roundRect">
            <a:avLst>
              <a:gd name="adj" fmla="val 5455"/>
            </a:avLst>
          </a:prstGeom>
          <a:solidFill>
            <a:srgbClr val="FFFFFF"/>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29" name="Shape 22"/>
          <p:cNvSpPr/>
          <p:nvPr/>
        </p:nvSpPr>
        <p:spPr>
          <a:xfrm>
            <a:off x="5897880" y="3886200"/>
            <a:ext cx="777240" cy="777240"/>
          </a:xfrm>
          <a:prstGeom prst="ellipse">
            <a:avLst/>
          </a:prstGeom>
          <a:solidFill>
            <a:srgbClr val="0E7C7B"/>
          </a:solidFill>
          <a:ln w="12700">
            <a:solidFill>
              <a:srgbClr val="0E7C7B"/>
            </a:solidFill>
            <a:prstDash val="solid"/>
          </a:ln>
        </p:spPr>
      </p:sp>
      <p:pic>
        <p:nvPicPr>
          <p:cNvPr id="30" name="Image 5" descr="preencoded.png">    </p:cNvPr>
          <p:cNvPicPr>
            <a:picLocks noChangeAspect="1"/>
          </p:cNvPicPr>
          <p:nvPr/>
        </p:nvPicPr>
        <p:blipFill>
          <a:blip r:embed="rId6"/>
          <a:stretch>
            <a:fillRect/>
          </a:stretch>
        </p:blipFill>
        <p:spPr>
          <a:xfrm>
            <a:off x="6092190" y="4080510"/>
            <a:ext cx="388620" cy="388620"/>
          </a:xfrm>
          <a:prstGeom prst="rect">
            <a:avLst/>
          </a:prstGeom>
        </p:spPr>
      </p:pic>
      <p:sp>
        <p:nvSpPr>
          <p:cNvPr id="31" name="Text 23"/>
          <p:cNvSpPr txBox="1"/>
          <p:nvPr/>
        </p:nvSpPr>
        <p:spPr>
          <a:xfrm>
            <a:off x="5303520" y="4754880"/>
            <a:ext cx="1965960" cy="411480"/>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[Integrante B3]</a:t>
            </a:r>
            <a:endParaRPr lang="en-US" sz="1250" dirty="0"/>
          </a:p>
        </p:txBody>
      </p:sp>
      <p:sp>
        <p:nvSpPr>
          <p:cNvPr id="32" name="Text 24"/>
          <p:cNvSpPr txBox="1"/>
          <p:nvPr/>
        </p:nvSpPr>
        <p:spPr>
          <a:xfrm>
            <a:off x="5303520" y="5166360"/>
            <a:ext cx="1965960" cy="411480"/>
          </a:xfrm>
          <a:prstGeom prst="rect">
            <a:avLst/>
          </a:prstGeom>
          <a:noFill/>
          <a:ln/>
        </p:spPr>
        <p:txBody>
          <a:bodyPr wrap="square" lIns="0" tIns="0" rIns="0" bIns="0" rtlCol="0" anchor="ctr"/>
          <a:lstStyle/>
          <a:p>
            <a:pPr algn="ctr" indent="0" marL="0">
              <a:buNone/>
            </a:pPr>
            <a:r>
              <a:rPr lang="en-US" sz="1150" dirty="0">
                <a:solidFill>
                  <a:srgbClr val="5B6770"/>
                </a:solidFill>
                <a:latin typeface="Calibri" pitchFamily="34" charset="0"/>
                <a:ea typeface="Calibri" pitchFamily="34" charset="-122"/>
                <a:cs typeface="Calibri" pitchFamily="34" charset="-120"/>
              </a:rPr>
              <a:t>Acta y comunicación</a:t>
            </a:r>
            <a:endParaRPr lang="en-US" sz="1150" dirty="0"/>
          </a:p>
        </p:txBody>
      </p:sp>
      <p:sp>
        <p:nvSpPr>
          <p:cNvPr id="33" name="Shape 25"/>
          <p:cNvSpPr/>
          <p:nvPr/>
        </p:nvSpPr>
        <p:spPr>
          <a:xfrm>
            <a:off x="7772400" y="1463040"/>
            <a:ext cx="3886200" cy="4251960"/>
          </a:xfrm>
          <a:prstGeom prst="roundRect">
            <a:avLst>
              <a:gd name="adj" fmla="val 2824"/>
            </a:avLst>
          </a:prstGeom>
          <a:solidFill>
            <a:srgbClr val="E6F4F3"/>
          </a:solidFill>
          <a:ln w="9525">
            <a:solidFill>
              <a:srgbClr val="DDE3E6"/>
            </a:solidFill>
            <a:prstDash val="solid"/>
          </a:ln>
          <a:effectLst>
            <a:outerShdw sx="100000" sy="100000" kx="0" ky="0" algn="bl" rotWithShape="0" blurRad="76200" dist="25400" dir="5400000">
              <a:srgbClr val="9AA5AB">
                <a:alpha val="25000"/>
              </a:srgbClr>
            </a:outerShdw>
          </a:effectLst>
        </p:spPr>
      </p:sp>
      <p:sp>
        <p:nvSpPr>
          <p:cNvPr id="34" name="Text 26"/>
          <p:cNvSpPr txBox="1"/>
          <p:nvPr/>
        </p:nvSpPr>
        <p:spPr>
          <a:xfrm>
            <a:off x="8001000" y="1645920"/>
            <a:ext cx="3474720" cy="731520"/>
          </a:xfrm>
          <a:prstGeom prst="rect">
            <a:avLst/>
          </a:prstGeom>
          <a:noFill/>
          <a:ln/>
        </p:spPr>
        <p:txBody>
          <a:bodyPr wrap="square" lIns="0" tIns="0" rIns="0" bIns="0" rtlCol="0" anchor="ctr"/>
          <a:lstStyle/>
          <a:p>
            <a:pPr indent="0" marL="0">
              <a:buNone/>
            </a:pPr>
            <a:r>
              <a:rPr lang="en-US" sz="1700" b="1" dirty="0">
                <a:solidFill>
                  <a:srgbClr val="12263A"/>
                </a:solidFill>
                <a:latin typeface="Calibri" pitchFamily="34" charset="0"/>
                <a:ea typeface="Calibri" pitchFamily="34" charset="-122"/>
                <a:cs typeface="Calibri" pitchFamily="34" charset="-120"/>
              </a:rPr>
              <a:t>Ustedes siempre sabrán cómo vamos</a:t>
            </a:r>
            <a:endParaRPr lang="en-US" sz="1700" dirty="0"/>
          </a:p>
        </p:txBody>
      </p:sp>
      <p:sp>
        <p:nvSpPr>
          <p:cNvPr id="35" name="Text 27"/>
          <p:cNvSpPr txBox="1"/>
          <p:nvPr/>
        </p:nvSpPr>
        <p:spPr>
          <a:xfrm>
            <a:off x="8001000" y="2514600"/>
            <a:ext cx="3474720" cy="29260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Reporte semanal por correo</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Tablero en línea con el avance real</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Demostración en cada entrega</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Un solo canal oficial: el Director</a:t>
            </a:r>
            <a:endParaRPr lang="en-US" sz="1500" dirty="0"/>
          </a:p>
          <a:p>
            <a:pPr marL="342900" indent="-342900">
              <a:buSzPct val="100000"/>
              <a:buChar char="•"/>
            </a:pPr>
            <a:r>
              <a:rPr lang="en-US" sz="1500" dirty="0">
                <a:solidFill>
                  <a:srgbClr val="1F2933"/>
                </a:solidFill>
                <a:latin typeface="Calibri" pitchFamily="34" charset="0"/>
                <a:ea typeface="Calibri" pitchFamily="34" charset="-122"/>
                <a:cs typeface="Calibri" pitchFamily="34" charset="-120"/>
              </a:rPr>
              <a:t>Cambios solo con su firma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Siguiente paso</a:t>
            </a:r>
            <a:endParaRPr lang="en-US" sz="4000" dirty="0"/>
          </a:p>
        </p:txBody>
      </p:sp>
      <p:sp>
        <p:nvSpPr>
          <p:cNvPr id="3" name="Shape 1"/>
          <p:cNvSpPr/>
          <p:nvPr/>
        </p:nvSpPr>
        <p:spPr>
          <a:xfrm>
            <a:off x="731520" y="1783080"/>
            <a:ext cx="685800" cy="685800"/>
          </a:xfrm>
          <a:prstGeom prst="ellipse">
            <a:avLst/>
          </a:prstGeom>
          <a:solidFill>
            <a:srgbClr val="0E7C7B"/>
          </a:solidFill>
          <a:ln w="12700">
            <a:solidFill>
              <a:srgbClr val="0E7C7B"/>
            </a:solidFill>
            <a:prstDash val="solid"/>
          </a:ln>
        </p:spPr>
      </p:sp>
      <p:sp>
        <p:nvSpPr>
          <p:cNvPr id="4" name="Text 2"/>
          <p:cNvSpPr txBox="1"/>
          <p:nvPr/>
        </p:nvSpPr>
        <p:spPr>
          <a:xfrm>
            <a:off x="731520" y="17830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691640" y="1874520"/>
            <a:ext cx="9144000" cy="54864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Aprobar la propuesta y firmar el acta de constitución</a:t>
            </a:r>
            <a:endParaRPr lang="en-US" sz="2100" dirty="0"/>
          </a:p>
        </p:txBody>
      </p:sp>
      <p:sp>
        <p:nvSpPr>
          <p:cNvPr id="6" name="Shape 4"/>
          <p:cNvSpPr/>
          <p:nvPr/>
        </p:nvSpPr>
        <p:spPr>
          <a:xfrm>
            <a:off x="731520" y="2788920"/>
            <a:ext cx="685800" cy="685800"/>
          </a:xfrm>
          <a:prstGeom prst="ellipse">
            <a:avLst/>
          </a:prstGeom>
          <a:solidFill>
            <a:srgbClr val="0E7C7B"/>
          </a:solidFill>
          <a:ln w="12700">
            <a:solidFill>
              <a:srgbClr val="0E7C7B"/>
            </a:solidFill>
            <a:prstDash val="solid"/>
          </a:ln>
        </p:spPr>
      </p:sp>
      <p:sp>
        <p:nvSpPr>
          <p:cNvPr id="7" name="Text 5"/>
          <p:cNvSpPr txBox="1"/>
          <p:nvPr/>
        </p:nvSpPr>
        <p:spPr>
          <a:xfrm>
            <a:off x="731520" y="27889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8" name="Text 6"/>
          <p:cNvSpPr txBox="1"/>
          <p:nvPr/>
        </p:nvSpPr>
        <p:spPr>
          <a:xfrm>
            <a:off x="1691640" y="2880360"/>
            <a:ext cx="9144000" cy="54864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Designar un enlace de Vinculación (2 h por semana)</a:t>
            </a:r>
            <a:endParaRPr lang="en-US" sz="2100" dirty="0"/>
          </a:p>
        </p:txBody>
      </p:sp>
      <p:sp>
        <p:nvSpPr>
          <p:cNvPr id="9" name="Shape 7"/>
          <p:cNvSpPr/>
          <p:nvPr/>
        </p:nvSpPr>
        <p:spPr>
          <a:xfrm>
            <a:off x="731520" y="3794760"/>
            <a:ext cx="685800" cy="685800"/>
          </a:xfrm>
          <a:prstGeom prst="ellipse">
            <a:avLst/>
          </a:prstGeom>
          <a:solidFill>
            <a:srgbClr val="0E7C7B"/>
          </a:solidFill>
          <a:ln w="12700">
            <a:solidFill>
              <a:srgbClr val="0E7C7B"/>
            </a:solidFill>
            <a:prstDash val="solid"/>
          </a:ln>
        </p:spPr>
      </p:sp>
      <p:sp>
        <p:nvSpPr>
          <p:cNvPr id="10" name="Text 8"/>
          <p:cNvSpPr txBox="1"/>
          <p:nvPr/>
        </p:nvSpPr>
        <p:spPr>
          <a:xfrm>
            <a:off x="731520" y="37947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1" name="Text 9"/>
          <p:cNvSpPr txBox="1"/>
          <p:nvPr/>
        </p:nvSpPr>
        <p:spPr>
          <a:xfrm>
            <a:off x="1691640" y="3886200"/>
            <a:ext cx="9144000" cy="54864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Autorizarnos a contactar al autor original</a:t>
            </a:r>
            <a:endParaRPr lang="en-US" sz="2100" dirty="0"/>
          </a:p>
        </p:txBody>
      </p:sp>
      <p:sp>
        <p:nvSpPr>
          <p:cNvPr id="12" name="Shape 10"/>
          <p:cNvSpPr/>
          <p:nvPr/>
        </p:nvSpPr>
        <p:spPr>
          <a:xfrm>
            <a:off x="731520" y="4800600"/>
            <a:ext cx="685800" cy="685800"/>
          </a:xfrm>
          <a:prstGeom prst="ellipse">
            <a:avLst/>
          </a:prstGeom>
          <a:solidFill>
            <a:srgbClr val="0E7C7B"/>
          </a:solidFill>
          <a:ln w="12700">
            <a:solidFill>
              <a:srgbClr val="0E7C7B"/>
            </a:solidFill>
            <a:prstDash val="solid"/>
          </a:ln>
        </p:spPr>
      </p:sp>
      <p:sp>
        <p:nvSpPr>
          <p:cNvPr id="13" name="Text 11"/>
          <p:cNvSpPr txBox="1"/>
          <p:nvPr/>
        </p:nvSpPr>
        <p:spPr>
          <a:xfrm>
            <a:off x="731520" y="480060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4" name="Text 12"/>
          <p:cNvSpPr txBox="1"/>
          <p:nvPr/>
        </p:nvSpPr>
        <p:spPr>
          <a:xfrm>
            <a:off x="1691640" y="4892040"/>
            <a:ext cx="9144000" cy="54864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Arranque: semana del 11 de enero de 2027</a:t>
            </a:r>
            <a:endParaRPr lang="en-US" sz="2100" dirty="0"/>
          </a:p>
        </p:txBody>
      </p:sp>
      <p:sp>
        <p:nvSpPr>
          <p:cNvPr id="15" name="Text 13"/>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500" i="1" dirty="0">
                <a:solidFill>
                  <a:srgbClr val="F4C38D"/>
                </a:solidFill>
                <a:latin typeface="Calibri" pitchFamily="34" charset="0"/>
                <a:ea typeface="Calibri" pitchFamily="34" charset="-122"/>
                <a:cs typeface="Calibri" pitchFamily="34" charset="-120"/>
              </a:rPr>
              <a:t>Mientras tanto: recomendamos no usar el sistema actual con datos reales de alumnos.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5532120" y="1463040"/>
            <a:ext cx="1143000" cy="1143000"/>
          </a:xfrm>
          <a:prstGeom prst="ellipse">
            <a:avLst/>
          </a:prstGeom>
          <a:solidFill>
            <a:srgbClr val="0E7C7B"/>
          </a:solidFill>
          <a:ln w="12700">
            <a:solidFill>
              <a:srgbClr val="0E7C7B"/>
            </a:solidFill>
            <a:prstDash val="solid"/>
          </a:ln>
        </p:spPr>
      </p:sp>
      <p:pic>
        <p:nvPicPr>
          <p:cNvPr id="3" name="Image 0" descr="preencoded.png">    </p:cNvPr>
          <p:cNvPicPr>
            <a:picLocks noChangeAspect="1"/>
          </p:cNvPicPr>
          <p:nvPr/>
        </p:nvPicPr>
        <p:blipFill>
          <a:blip r:embed="rId1"/>
          <a:stretch>
            <a:fillRect/>
          </a:stretch>
        </p:blipFill>
        <p:spPr>
          <a:xfrm>
            <a:off x="5817870" y="1748790"/>
            <a:ext cx="571500" cy="571500"/>
          </a:xfrm>
          <a:prstGeom prst="rect">
            <a:avLst/>
          </a:prstGeom>
        </p:spPr>
      </p:pic>
      <p:sp>
        <p:nvSpPr>
          <p:cNvPr id="4" name="Text 1"/>
          <p:cNvSpPr txBox="1"/>
          <p:nvPr/>
        </p:nvSpPr>
        <p:spPr>
          <a:xfrm>
            <a:off x="0" y="2834640"/>
            <a:ext cx="12191695"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¿Preguntas?</a:t>
            </a:r>
            <a:endParaRPr lang="en-US" sz="5400" dirty="0"/>
          </a:p>
        </p:txBody>
      </p:sp>
      <p:sp>
        <p:nvSpPr>
          <p:cNvPr id="5" name="Text 2"/>
          <p:cNvSpPr txBox="1"/>
          <p:nvPr/>
        </p:nvSpPr>
        <p:spPr>
          <a:xfrm>
            <a:off x="0" y="4023360"/>
            <a:ext cx="12191695" cy="548640"/>
          </a:xfrm>
          <a:prstGeom prst="rect">
            <a:avLst/>
          </a:prstGeom>
          <a:noFill/>
          <a:ln/>
        </p:spPr>
        <p:txBody>
          <a:bodyPr wrap="square" lIns="0" tIns="0" rIns="0" bIns="0" rtlCol="0" anchor="ctr"/>
          <a:lstStyle/>
          <a:p>
            <a:pPr algn="ctr" indent="0" marL="0">
              <a:buNone/>
            </a:pPr>
            <a:r>
              <a:rPr lang="en-US" sz="2000" dirty="0">
                <a:solidFill>
                  <a:srgbClr val="9FD6D5"/>
                </a:solidFill>
                <a:latin typeface="Calibri" pitchFamily="34" charset="0"/>
                <a:ea typeface="Calibri" pitchFamily="34" charset="-122"/>
                <a:cs typeface="Calibri" pitchFamily="34" charset="-120"/>
              </a:rPr>
              <a:t>Gracias por su tiempo</a:t>
            </a:r>
            <a:endParaRPr lang="en-US" sz="2000" dirty="0"/>
          </a:p>
        </p:txBody>
      </p:sp>
      <p:sp>
        <p:nvSpPr>
          <p:cNvPr id="6" name="Text 3"/>
          <p:cNvSpPr txBox="1"/>
          <p:nvPr/>
        </p:nvSpPr>
        <p:spPr>
          <a:xfrm>
            <a:off x="0" y="5852160"/>
            <a:ext cx="12191695" cy="365760"/>
          </a:xfrm>
          <a:prstGeom prst="rect">
            <a:avLst/>
          </a:prstGeom>
          <a:noFill/>
          <a:ln/>
        </p:spPr>
        <p:txBody>
          <a:bodyPr wrap="square" lIns="0" tIns="0" rIns="0" bIns="0" rtlCol="0" anchor="ctr"/>
          <a:lstStyle/>
          <a:p>
            <a:pPr algn="ctr" indent="0" marL="0">
              <a:buNone/>
            </a:pPr>
            <a:r>
              <a:rPr lang="en-US" sz="1300" dirty="0">
                <a:solidFill>
                  <a:srgbClr val="9FB3C0"/>
                </a:solidFill>
                <a:latin typeface="Calibri" pitchFamily="34" charset="0"/>
                <a:ea typeface="Calibri" pitchFamily="34" charset="-122"/>
                <a:cs typeface="Calibri" pitchFamily="34" charset="-120"/>
              </a:rPr>
              <a:t>NexoSoft Consultores · repositorio y entregables completos en GitHub (tag v1.0)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NexoSoft - Propuesta de modernización</dc:title>
  <dc:subject>PptxGenJS Presentation</dc:subject>
  <dc:creator>PptxGenJS</dc:creator>
  <cp:lastModifiedBy>PptxGenJS</cp:lastModifiedBy>
  <cp:revision>1</cp:revision>
  <dcterms:created xsi:type="dcterms:W3CDTF">2026-09-27T20:06:11Z</dcterms:created>
  <dcterms:modified xsi:type="dcterms:W3CDTF">2026-09-27T20:06:11Z</dcterms:modified>
</cp:coreProperties>
</file>